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4"/>
  </p:sldMasterIdLst>
  <p:notesMasterIdLst>
    <p:notesMasterId r:id="rId7"/>
  </p:notesMasterIdLst>
  <p:sldIdLst>
    <p:sldId id="2147483425" r:id="rId5"/>
    <p:sldId id="263" r:id="rId6"/>
  </p:sldIdLst>
  <p:sldSz cx="12192000" cy="6858000"/>
  <p:notesSz cx="6794500" cy="9906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3189B26-E2FD-50EA-E2DB-48A41752679A}" name="Anne Greibrokk" initials="AG" userId="S::Anne.Greibrokk@helsedir.no::d8abf04a-172f-4038-9d7e-992cef117e64" providerId="AD"/>
  <p188:author id="{DC27345B-B4EA-FDF5-CF16-590E132A7594}" name="Anne Kristin Einarsrud" initials="AE" userId="S::Anne.Kristin.Einarsrud@helsedir.no::816d7140-c694-4da4-8515-773372965322" providerId="AD"/>
  <p188:author id="{7E13326A-E997-A423-371C-14EEEAD7C6E0}" name="Helen Brandstorp" initials="HB" userId="S::Helen.Brandstorp@helsedir.no::30cbe885-c06d-4e00-b773-ab9bce2ee03c" providerId="AD"/>
  <p188:author id="{5E6F2488-1A5A-7445-29C3-ACEFAF18451E}" name="Amy Claire Crowther" initials="ACC" userId="S::Amy.Claire.Crowther@helsedir.no::4c0d5911-2738-45fc-99bc-06fae66ab0ca" providerId="AD"/>
  <p188:author id="{9C7E3A9B-A89E-C387-F4FC-1F94FA51C86C}" name="Siv Ingebrigtsen" initials="SI" userId="S::Siv.Ingebrigtsen@helsedir.no::918dacd6-ef9e-4620-a06d-1c427154c214" providerId="AD"/>
  <p188:author id="{6DB5F1B1-B04E-7AB4-D8E8-CCC9788ED7CC}" name="Michael Kumar" initials="MK" userId="S::michael.kumar@helsedir.no::96e6649f-697c-4873-b274-e486c07a4b08" providerId="AD"/>
  <p188:author id="{A8D32CE3-1524-E181-905E-279304C3F949}" name="Siv Ingebrigtsen" initials="SI" userId="S::siv.ingebrigtsen@helsedir.no::918dacd6-ef9e-4620-a06d-1c427154c21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5069"/>
    <a:srgbClr val="7C145C"/>
    <a:srgbClr val="E042B0"/>
    <a:srgbClr val="EB81CA"/>
    <a:srgbClr val="F5C0E5"/>
    <a:srgbClr val="4FC4A6"/>
    <a:srgbClr val="2E8972"/>
    <a:srgbClr val="E66326"/>
    <a:srgbClr val="E04002"/>
    <a:srgbClr val="FD63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5E455A-16DE-4969-8BB0-9A257C66D06D}" v="885" dt="2026-05-29T05:56:32.850"/>
    <p1510:client id="{33043981-E5F0-4D3E-B30B-81AEF86E56C3}" v="2168" dt="2026-05-28T12:58:18.336"/>
    <p1510:client id="{733D5572-DDE4-E1F6-916D-B4552179B255}" v="3" dt="2026-05-28T15:46:14.519"/>
    <p1510:client id="{8EFFE759-05B6-40BA-843F-E4467002E59D}" v="1750" dt="2026-05-29T06:56:27.273"/>
    <p1510:client id="{B4B136C2-1B3F-43AE-8F8A-F9BB419875FD}" v="136" dt="2026-05-29T06:27:59.6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00" autoAdjust="0"/>
  </p:normalViewPr>
  <p:slideViewPr>
    <p:cSldViewPr snapToGrid="0">
      <p:cViewPr varScale="1">
        <p:scale>
          <a:sx n="114" d="100"/>
          <a:sy n="114" d="100"/>
        </p:scale>
        <p:origin x="2554" y="101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DEAB89-3ED6-BA48-8C18-5986538B881E}" type="datetimeFigureOut">
              <a:rPr lang="nb-NO" smtClean="0"/>
              <a:t>31.08.2026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44283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19993-DBB6-024A-9B4C-46A2DD21F3A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55215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Digitale tjenester som en del av behandlingsforløp</a:t>
            </a:r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9993-DBB6-024A-9B4C-46A2DD21F3A5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64021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of Rectangle 5">
            <a:extLst>
              <a:ext uri="{FF2B5EF4-FFF2-40B4-BE49-F238E27FC236}">
                <a16:creationId xmlns:a16="http://schemas.microsoft.com/office/drawing/2014/main" id="{BFECD28A-B69E-4F54-C276-99260D28C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12192000" cy="4918229"/>
          </a:xfrm>
          <a:prstGeom prst="round1Rect">
            <a:avLst>
              <a:gd name="adj" fmla="val 140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88A2A-295F-06C4-F34B-DDA0AF87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7244C19D-6F93-5460-EE6C-1891BF2105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84175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854B41D-D927-3848-062F-33BAEBA1F0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4825" y="5364170"/>
            <a:ext cx="8642350" cy="3600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2" name="Round Single Corner of Rectangle 11">
            <a:extLst>
              <a:ext uri="{FF2B5EF4-FFF2-40B4-BE49-F238E27FC236}">
                <a16:creationId xmlns:a16="http://schemas.microsoft.com/office/drawing/2014/main" id="{9A5807E1-2F61-C5BC-3B43-D9F6EA7D5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774825" y="5734800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Logo" descr="Logo Helsedirektoratet">
            <a:extLst>
              <a:ext uri="{FF2B5EF4-FFF2-40B4-BE49-F238E27FC236}">
                <a16:creationId xmlns:a16="http://schemas.microsoft.com/office/drawing/2014/main" id="{DC969169-90CA-C642-D2A3-D4EF78CE2D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76794" y="621653"/>
            <a:ext cx="3079344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017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enge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of Rectangle 5">
            <a:extLst>
              <a:ext uri="{FF2B5EF4-FFF2-40B4-BE49-F238E27FC236}">
                <a16:creationId xmlns:a16="http://schemas.microsoft.com/office/drawing/2014/main" id="{BFECD28A-B69E-4F54-C276-99260D28C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12192000" cy="4918229"/>
          </a:xfrm>
          <a:prstGeom prst="round1Rect">
            <a:avLst>
              <a:gd name="adj" fmla="val 140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88A2A-295F-06C4-F34B-DDA0AF87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7244C19D-6F93-5460-EE6C-1891BF2105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84175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854B41D-D927-3848-062F-33BAEBA1F0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4825" y="5364170"/>
            <a:ext cx="8642350" cy="3600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2" name="Round Single Corner of Rectangle 11">
            <a:extLst>
              <a:ext uri="{FF2B5EF4-FFF2-40B4-BE49-F238E27FC236}">
                <a16:creationId xmlns:a16="http://schemas.microsoft.com/office/drawing/2014/main" id="{9A5807E1-2F61-C5BC-3B43-D9F6EA7D5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774825" y="5734800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5" name="Bilde 4" descr="Et bilde som inneholder tekst, Font, Grafikk, skjermbilde&#10;&#10;Automatisk generert beskrivelse">
            <a:extLst>
              <a:ext uri="{FF2B5EF4-FFF2-40B4-BE49-F238E27FC236}">
                <a16:creationId xmlns:a16="http://schemas.microsoft.com/office/drawing/2014/main" id="{8C0AD9CB-DF95-7D27-53BB-376F0CB615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76794" y="656223"/>
            <a:ext cx="3110817" cy="52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4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ttelside, logoblå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FCCDD70-7E5A-0B9D-FE7C-3F33ECA3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EB8F890-2A4D-C84B-FB75-3DC03422A8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60000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8" name="Round Single Corner of Rectangle 7">
            <a:extLst>
              <a:ext uri="{FF2B5EF4-FFF2-40B4-BE49-F238E27FC236}">
                <a16:creationId xmlns:a16="http://schemas.microsoft.com/office/drawing/2014/main" id="{F6556EB0-E7D0-AF6A-6603-880F6632D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774825" y="4466843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Logo" descr="Logo Helsedirektoratet">
            <a:extLst>
              <a:ext uri="{FF2B5EF4-FFF2-40B4-BE49-F238E27FC236}">
                <a16:creationId xmlns:a16="http://schemas.microsoft.com/office/drawing/2014/main" id="{6E79DADF-D176-FE1C-E671-498BA3A2D3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5601" y="625697"/>
            <a:ext cx="2015571" cy="2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65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ttelside, blå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FCCDD70-7E5A-0B9D-FE7C-3F33ECA3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EB8F890-2A4D-C84B-FB75-3DC03422A8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60000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8" name="Round Single Corner of Rectangle 7">
            <a:extLst>
              <a:ext uri="{FF2B5EF4-FFF2-40B4-BE49-F238E27FC236}">
                <a16:creationId xmlns:a16="http://schemas.microsoft.com/office/drawing/2014/main" id="{F6556EB0-E7D0-AF6A-6603-880F6632D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774825" y="4466843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Logo" descr="Logo Helsedirektoratet">
            <a:extLst>
              <a:ext uri="{FF2B5EF4-FFF2-40B4-BE49-F238E27FC236}">
                <a16:creationId xmlns:a16="http://schemas.microsoft.com/office/drawing/2014/main" id="{6E79DADF-D176-FE1C-E671-498BA3A2D3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5601" y="625697"/>
            <a:ext cx="2015571" cy="2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94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9C6D-9AA3-ECC5-BE51-257DC63A2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800175"/>
            <a:ext cx="8642350" cy="133191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C91581-FE29-F032-CCCD-7C6348DBFE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4825" y="2411307"/>
            <a:ext cx="8640763" cy="3897418"/>
          </a:xfrm>
        </p:spPr>
        <p:txBody>
          <a:bodyPr/>
          <a:lstStyle>
            <a:lvl1pPr marL="358775" indent="-358775">
              <a:buClr>
                <a:schemeClr val="bg2"/>
              </a:buClr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1pPr>
            <a:lvl2pPr marL="630000" indent="-268288">
              <a:buClr>
                <a:schemeClr val="bg2"/>
              </a:buClr>
              <a:tabLst/>
              <a:defRPr>
                <a:solidFill>
                  <a:schemeClr val="bg1"/>
                </a:solidFill>
              </a:defRPr>
            </a:lvl2pPr>
            <a:lvl3pPr marL="809625" indent="-180000">
              <a:buClr>
                <a:schemeClr val="bg2"/>
              </a:buClr>
              <a:tabLst/>
              <a:defRPr>
                <a:solidFill>
                  <a:schemeClr val="bg1"/>
                </a:solidFill>
              </a:defRPr>
            </a:lvl3pPr>
            <a:lvl4pPr marL="990000" indent="-219075">
              <a:buClr>
                <a:schemeClr val="bg2"/>
              </a:buClr>
              <a:tabLst/>
              <a:defRPr>
                <a:solidFill>
                  <a:schemeClr val="bg1"/>
                </a:solidFill>
              </a:defRPr>
            </a:lvl4pPr>
            <a:lvl5pPr marL="1150938" indent="-171450">
              <a:buClr>
                <a:schemeClr val="bg2"/>
              </a:buClr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AD46BA44-B440-B0C0-1AC8-DC4C8D44DFB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78D41C5-79DF-4A32-8ED3-02EA9F97B457}" type="datetime1">
              <a:rPr lang="nb-NO" smtClean="0"/>
              <a:t>31.08.2026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2CFF1E00-5554-050E-B64A-2E3595FEBEE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55688" y="10733159"/>
            <a:ext cx="7200900" cy="2448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b-NO"/>
              <a:t>Nasjonal rådsmodell for e-helse</a:t>
            </a:r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7530460A-A795-D6BC-3981-1863D774BC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1FD356-1CC0-514B-B5D9-F98600AAE6F5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3" name="Grafikk 2">
            <a:extLst>
              <a:ext uri="{FF2B5EF4-FFF2-40B4-BE49-F238E27FC236}">
                <a16:creationId xmlns:a16="http://schemas.microsoft.com/office/drawing/2014/main" id="{D1988DD9-348C-F6B2-D474-DE0B281D42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61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841C96E-2BF6-AF6C-0EF5-CAF5C8D5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037C34B-6364-16E2-9BAA-2E5306EE4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6E22738-BBB1-88C1-8BB8-57837106E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D3083-AE48-4F30-8CEA-8AB74103B0B9}" type="datetime1">
              <a:rPr lang="nb-NO" smtClean="0"/>
              <a:t>31.08.2026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C9E62E1-B28E-C63B-E538-B35DE2292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Nasjonal rådsmodell for e-helse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7B1AE72-5249-ACBA-C070-ABBF2FAB2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DD09-BF3E-D547-AB07-D5CB3C7C544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01067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952625"/>
            <a:ext cx="5400675" cy="4356100"/>
          </a:xfrm>
        </p:spPr>
        <p:txBody>
          <a:bodyPr rIns="360000"/>
          <a:lstStyle>
            <a:lvl1pPr>
              <a:defRPr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defRPr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defRPr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defRPr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defRPr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33548-D658-F4A3-A123-C7A88D09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8086" y="1952625"/>
            <a:ext cx="5388588" cy="4356100"/>
          </a:xfrm>
        </p:spPr>
        <p:txBody>
          <a:bodyPr rIns="360000"/>
          <a:lstStyle>
            <a:lvl1pPr>
              <a:defRPr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defRPr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defRPr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defRPr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defRPr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741D-6E32-4195-BDC6-F2C605C50C48}" type="datetime1">
              <a:rPr lang="nb-NO" smtClean="0"/>
              <a:t>31.08.2026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Nasjonal rådsmodell for e-helse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3BE26CA4-BA98-4DD0-885C-3F64413BF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1334196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spalter m tit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EBD3AE-2C7F-0498-08B2-B1BA038B5B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063" y="1952625"/>
            <a:ext cx="5388587" cy="642529"/>
          </a:xfrm>
        </p:spPr>
        <p:txBody>
          <a:bodyPr rIns="360000" bIns="0" anchor="t" anchorCtr="0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AD26A-0116-97EC-222C-2E0124CA9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325" y="2725785"/>
            <a:ext cx="5400675" cy="3582939"/>
          </a:xfrm>
        </p:spPr>
        <p:txBody>
          <a:bodyPr rIns="360000"/>
          <a:lstStyle>
            <a:lvl1pPr>
              <a:defRPr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defRPr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defRPr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defRPr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defRPr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E8A8E-D4FD-4060-A885-5E54552CA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8086" y="1952625"/>
            <a:ext cx="5388587" cy="642529"/>
          </a:xfrm>
        </p:spPr>
        <p:txBody>
          <a:bodyPr rIns="360000" bIns="0" anchor="t" anchorCtr="0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D0006-ABEB-2E7C-4B72-BF63DC731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8086" y="2725783"/>
            <a:ext cx="5388587" cy="3582939"/>
          </a:xfrm>
        </p:spPr>
        <p:txBody>
          <a:bodyPr rIns="360000"/>
          <a:lstStyle>
            <a:lvl1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1BD188C6-C475-EEBB-19DD-1E7E57D4E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EE3E574-65CA-41F8-BA95-D64350FCEAF7}" type="datetime1">
              <a:rPr lang="nb-NO" smtClean="0"/>
              <a:t>31.08.2026</a:t>
            </a:fld>
            <a:endParaRPr lang="nb-NO"/>
          </a:p>
        </p:txBody>
      </p:sp>
      <p:sp>
        <p:nvSpPr>
          <p:cNvPr id="12" name="Plassholder for bunntekst 11">
            <a:extLst>
              <a:ext uri="{FF2B5EF4-FFF2-40B4-BE49-F238E27FC236}">
                <a16:creationId xmlns:a16="http://schemas.microsoft.com/office/drawing/2014/main" id="{8B686F46-7932-9981-47F3-786BC2BA5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b-NO"/>
              <a:t>Nasjonal rådsmodell for e-helse</a:t>
            </a:r>
          </a:p>
        </p:txBody>
      </p:sp>
      <p:sp>
        <p:nvSpPr>
          <p:cNvPr id="14" name="Plassholder for lysbildenummer 13">
            <a:extLst>
              <a:ext uri="{FF2B5EF4-FFF2-40B4-BE49-F238E27FC236}">
                <a16:creationId xmlns:a16="http://schemas.microsoft.com/office/drawing/2014/main" id="{DC554CA7-09B4-83A3-E57E-5EA3B1CA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0C27FCCD-9AA0-D4E6-92AB-AA7FC2310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762728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6" y="1952626"/>
            <a:ext cx="3602034" cy="4356100"/>
          </a:xfrm>
        </p:spPr>
        <p:txBody>
          <a:bodyPr rIns="360000"/>
          <a:lstStyle>
            <a:lvl1pPr>
              <a:defRPr sz="20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C2F6EA-3AD4-B992-0E79-28A87C8644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09446" y="1952626"/>
            <a:ext cx="3585195" cy="4356100"/>
          </a:xfrm>
        </p:spPr>
        <p:txBody>
          <a:bodyPr rIns="360000"/>
          <a:lstStyle>
            <a:lvl1pPr>
              <a:defRPr sz="20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33548-D658-F4A3-A123-C7A88D09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98860" y="1952626"/>
            <a:ext cx="3597814" cy="4356100"/>
          </a:xfrm>
        </p:spPr>
        <p:txBody>
          <a:bodyPr rIns="360000"/>
          <a:lstStyle>
            <a:lvl1pPr>
              <a:defRPr sz="20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FCB3D-8969-4F1F-9A4E-51C0E65B968C}" type="datetime1">
              <a:rPr lang="nb-NO" smtClean="0"/>
              <a:t>31.08.2026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Nasjonal rådsmodell for e-helse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C23E695F-0ABB-E096-637C-2ECCB48B6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785611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r m tit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89007-EE6A-CEE5-F2FA-FE9335F60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1952624"/>
            <a:ext cx="3607541" cy="640800"/>
          </a:xfrm>
        </p:spPr>
        <p:txBody>
          <a:bodyPr rIns="360000" bIns="0" anchor="ctr" anchorCtr="0">
            <a:normAutofit/>
          </a:bodyPr>
          <a:lstStyle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AD26A-0116-97EC-222C-2E0124CA9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326" y="2682240"/>
            <a:ext cx="3607541" cy="3626485"/>
          </a:xfrm>
        </p:spPr>
        <p:txBody>
          <a:bodyPr rIns="360000"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85EAB28-73FB-15AD-8FFA-850775457B5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314016" y="1952624"/>
            <a:ext cx="3593358" cy="640800"/>
          </a:xfrm>
        </p:spPr>
        <p:txBody>
          <a:bodyPr rIns="360000" bIns="0" anchor="ctr" anchorCtr="0">
            <a:normAutofit/>
          </a:bodyPr>
          <a:lstStyle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714B490-DEDA-F33A-F9B2-0AE24945E31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314016" y="2682240"/>
            <a:ext cx="3582210" cy="3626485"/>
          </a:xfrm>
        </p:spPr>
        <p:txBody>
          <a:bodyPr rIns="360000"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E8A8E-D4FD-4060-A885-5E54552CA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921554" y="1952624"/>
            <a:ext cx="3575120" cy="640800"/>
          </a:xfrm>
        </p:spPr>
        <p:txBody>
          <a:bodyPr rIns="360000" bIns="0" anchor="ctr" anchorCtr="0">
            <a:normAutofit/>
          </a:bodyPr>
          <a:lstStyle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D0006-ABEB-2E7C-4B72-BF63DC731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921553" y="2682240"/>
            <a:ext cx="3575120" cy="3626483"/>
          </a:xfrm>
        </p:spPr>
        <p:txBody>
          <a:bodyPr rIns="360000"/>
          <a:lstStyle>
            <a:lvl1pPr>
              <a:defRPr sz="20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3" name="Plassholder for dato 12">
            <a:extLst>
              <a:ext uri="{FF2B5EF4-FFF2-40B4-BE49-F238E27FC236}">
                <a16:creationId xmlns:a16="http://schemas.microsoft.com/office/drawing/2014/main" id="{ADE11266-A348-59EE-BC97-CD0F4FEA4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0BBACC1-126F-4A1C-A784-005131E75211}" type="datetime1">
              <a:rPr lang="nb-NO" smtClean="0"/>
              <a:t>31.08.2026</a:t>
            </a:fld>
            <a:endParaRPr lang="nb-NO"/>
          </a:p>
        </p:txBody>
      </p:sp>
      <p:sp>
        <p:nvSpPr>
          <p:cNvPr id="14" name="Plassholder for bunntekst 13">
            <a:extLst>
              <a:ext uri="{FF2B5EF4-FFF2-40B4-BE49-F238E27FC236}">
                <a16:creationId xmlns:a16="http://schemas.microsoft.com/office/drawing/2014/main" id="{6C8C9645-CF8F-B4DC-A308-EC68F383E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b-NO"/>
              <a:t>Nasjonal rådsmodell for e-helse</a:t>
            </a:r>
          </a:p>
        </p:txBody>
      </p:sp>
      <p:sp>
        <p:nvSpPr>
          <p:cNvPr id="16" name="Plassholder for lysbildenummer 15">
            <a:extLst>
              <a:ext uri="{FF2B5EF4-FFF2-40B4-BE49-F238E27FC236}">
                <a16:creationId xmlns:a16="http://schemas.microsoft.com/office/drawing/2014/main" id="{200AE5F9-1C2E-04BF-1A0A-2C503246A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ED3C7BFD-1BF8-0A49-36D6-509010B0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1774940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00C8-C3E0-4C85-B509-1F7862025B8C}" type="datetime1">
              <a:rPr lang="nb-NO" smtClean="0"/>
              <a:t>31.08.2026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Nasjonal rådsmodell for e-helse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19988604-B493-3FD9-9195-963708D49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2110172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39969859-2B5A-915B-2E94-B776F4AEC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E8B21-DE42-4BB5-8BD0-5D580CCC1C3E}" type="datetime1">
              <a:rPr lang="nb-NO" smtClean="0"/>
              <a:t>31.08.2026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AA734D31-9FD8-A723-F585-288B71A9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Nasjonal rådsmodell for e-helse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583BFF6-52FA-DCA5-B37A-98E69BBD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DD09-BF3E-D547-AB07-D5CB3C7C5447}" type="slidenum">
              <a:rPr lang="nb-NO" smtClean="0"/>
              <a:t>‹#›</a:t>
            </a:fld>
            <a:endParaRPr lang="nb-NO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0301DB44-273E-E161-2A2B-03149E3AE3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829160"/>
            <a:ext cx="6005593" cy="720000"/>
          </a:xfrm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rPr lang="nb-NO"/>
              <a:t>Sett inn tittel for skjermopplesing</a:t>
            </a:r>
          </a:p>
        </p:txBody>
      </p:sp>
    </p:spTree>
    <p:extLst>
      <p:ext uri="{BB962C8B-B14F-4D97-AF65-F5344CB8AC3E}">
        <p14:creationId xmlns:p14="http://schemas.microsoft.com/office/powerpoint/2010/main" val="3204375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, maks bred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11A416E-05A1-B14E-C8B2-BA495489239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95325" y="1665288"/>
            <a:ext cx="11161713" cy="464343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b-NO"/>
              <a:t>Klikk ikonet for å legge til en tabell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A3B0-FFF1-4B22-AB24-726767B52BE8}" type="datetime1">
              <a:rPr lang="nb-NO" smtClean="0"/>
              <a:t>31.08.2026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Nasjonal rådsmodell for e-helse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06581D95-703C-10A9-C08A-8C056215A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3287863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ldekk figur eller bil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of Rectangle 10">
            <a:extLst>
              <a:ext uri="{FF2B5EF4-FFF2-40B4-BE49-F238E27FC236}">
                <a16:creationId xmlns:a16="http://schemas.microsoft.com/office/drawing/2014/main" id="{DCCE9751-D797-3F9B-CB73-AAB947911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8725"/>
            <a:ext cx="12192000" cy="549275"/>
          </a:xfrm>
          <a:prstGeom prst="round1Rect">
            <a:avLst>
              <a:gd name="adj" fmla="val 416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pic>
        <p:nvPicPr>
          <p:cNvPr id="6" name="Grafikk 5">
            <a:extLst>
              <a:ext uri="{FF2B5EF4-FFF2-40B4-BE49-F238E27FC236}">
                <a16:creationId xmlns:a16="http://schemas.microsoft.com/office/drawing/2014/main" id="{9A3756F7-8588-54F7-F8C5-168614415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  <p:sp>
        <p:nvSpPr>
          <p:cNvPr id="8" name="Tittel 7">
            <a:extLst>
              <a:ext uri="{FF2B5EF4-FFF2-40B4-BE49-F238E27FC236}">
                <a16:creationId xmlns:a16="http://schemas.microsoft.com/office/drawing/2014/main" id="{8A524A5A-3E5A-5BD3-F408-488358651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897888"/>
            <a:ext cx="5689626" cy="720000"/>
          </a:xfrm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rPr lang="nb-NO"/>
              <a:t>Sett inn tittel for skjermopplesing</a:t>
            </a:r>
          </a:p>
        </p:txBody>
      </p:sp>
      <p:sp>
        <p:nvSpPr>
          <p:cNvPr id="7" name="Plassholder for bilde 6">
            <a:extLst>
              <a:ext uri="{FF2B5EF4-FFF2-40B4-BE49-F238E27FC236}">
                <a16:creationId xmlns:a16="http://schemas.microsoft.com/office/drawing/2014/main" id="{6EEAD077-2144-0091-7319-C3583D2D32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86E30-E647-A7B1-20FD-2D7AE67D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A870C-FDC1-4CE1-8711-C8689C712644}" type="datetime1">
              <a:rPr lang="nb-NO" smtClean="0"/>
              <a:t>31.08.2026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4546F-4602-94E2-3EE7-C9A968699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Nasjonal rådsmodell for e-helse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6D611-E0DF-AAEA-6369-E3B0EE39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80071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v,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952625"/>
            <a:ext cx="5400675" cy="4356100"/>
          </a:xfrm>
        </p:spPr>
        <p:txBody>
          <a:bodyPr rIns="360000"/>
          <a:lstStyle>
            <a:lvl1pPr>
              <a:defRPr sz="20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bilde 3">
            <a:extLst>
              <a:ext uri="{FF2B5EF4-FFF2-40B4-BE49-F238E27FC236}">
                <a16:creationId xmlns:a16="http://schemas.microsoft.com/office/drawing/2014/main" id="{0D62D2AC-F204-5052-A344-37748CC2654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5369435 h 6858000"/>
              <a:gd name="connsiteX3" fmla="*/ 6096000 w 6096000"/>
              <a:gd name="connsiteY3" fmla="*/ 5943600 h 6858000"/>
              <a:gd name="connsiteX4" fmla="*/ 6096000 w 6096000"/>
              <a:gd name="connsiteY4" fmla="*/ 6134993 h 6858000"/>
              <a:gd name="connsiteX5" fmla="*/ 5372993 w 6096000"/>
              <a:gd name="connsiteY5" fmla="*/ 6858000 h 6858000"/>
              <a:gd name="connsiteX6" fmla="*/ 5181600 w 6096000"/>
              <a:gd name="connsiteY6" fmla="*/ 6858000 h 6858000"/>
              <a:gd name="connsiteX7" fmla="*/ 3948216 w 6096000"/>
              <a:gd name="connsiteY7" fmla="*/ 6858000 h 6858000"/>
              <a:gd name="connsiteX8" fmla="*/ 0 w 6096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5369435"/>
                </a:lnTo>
                <a:lnTo>
                  <a:pt x="6096000" y="5943600"/>
                </a:lnTo>
                <a:lnTo>
                  <a:pt x="6096000" y="6134993"/>
                </a:lnTo>
                <a:cubicBezTo>
                  <a:pt x="6096000" y="6534299"/>
                  <a:pt x="5772299" y="6858000"/>
                  <a:pt x="5372993" y="6858000"/>
                </a:cubicBezTo>
                <a:lnTo>
                  <a:pt x="5181600" y="6858000"/>
                </a:lnTo>
                <a:lnTo>
                  <a:pt x="39482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7310-2A25-4AC8-8B6C-EC2E1CDCDB96}" type="datetime1">
              <a:rPr lang="nb-NO" smtClean="0"/>
              <a:t>31.08.2026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Nasjonal rådsmodell for e-helse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E6C509A6-A612-4A8B-066D-F3C084F72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620713"/>
            <a:ext cx="5400674" cy="1044575"/>
          </a:xfrm>
        </p:spPr>
        <p:txBody>
          <a:bodyPr rIns="360000"/>
          <a:lstStyle/>
          <a:p>
            <a:r>
              <a:rPr lang="nb-NO"/>
              <a:t>Klikk for å redigere tittelstil</a:t>
            </a:r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3C3D7062-D60D-2C06-81F5-884FB615C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458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v, mø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AABFB-A43B-39B6-5C39-C65603B53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20713"/>
            <a:ext cx="5400675" cy="1044575"/>
          </a:xfrm>
        </p:spPr>
        <p:txBody>
          <a:bodyPr rIns="360000" anchor="ctr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952625"/>
            <a:ext cx="5400675" cy="4356100"/>
          </a:xfrm>
        </p:spPr>
        <p:txBody>
          <a:bodyPr rIns="360000"/>
          <a:lstStyle>
            <a:lvl1pPr>
              <a:buClrTx/>
              <a:defRPr sz="2000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5" name="Plassholder for bilde 14">
            <a:extLst>
              <a:ext uri="{FF2B5EF4-FFF2-40B4-BE49-F238E27FC236}">
                <a16:creationId xmlns:a16="http://schemas.microsoft.com/office/drawing/2014/main" id="{BD8F9827-3EF3-3D0A-255F-528EB364E4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5369435 h 6858000"/>
              <a:gd name="connsiteX3" fmla="*/ 6096000 w 6096000"/>
              <a:gd name="connsiteY3" fmla="*/ 5943600 h 6858000"/>
              <a:gd name="connsiteX4" fmla="*/ 6096000 w 6096000"/>
              <a:gd name="connsiteY4" fmla="*/ 6134993 h 6858000"/>
              <a:gd name="connsiteX5" fmla="*/ 5372993 w 6096000"/>
              <a:gd name="connsiteY5" fmla="*/ 6858000 h 6858000"/>
              <a:gd name="connsiteX6" fmla="*/ 5181600 w 6096000"/>
              <a:gd name="connsiteY6" fmla="*/ 6858000 h 6858000"/>
              <a:gd name="connsiteX7" fmla="*/ 3948216 w 6096000"/>
              <a:gd name="connsiteY7" fmla="*/ 6858000 h 6858000"/>
              <a:gd name="connsiteX8" fmla="*/ 0 w 6096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5369435"/>
                </a:lnTo>
                <a:lnTo>
                  <a:pt x="6096000" y="5943600"/>
                </a:lnTo>
                <a:lnTo>
                  <a:pt x="6096000" y="6134993"/>
                </a:lnTo>
                <a:cubicBezTo>
                  <a:pt x="6096000" y="6534299"/>
                  <a:pt x="5772299" y="6858000"/>
                  <a:pt x="5372993" y="6858000"/>
                </a:cubicBezTo>
                <a:lnTo>
                  <a:pt x="5181600" y="6858000"/>
                </a:lnTo>
                <a:lnTo>
                  <a:pt x="39482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C5FA7D8-9F23-4AB7-B598-22837263C7B1}" type="datetime1">
              <a:rPr lang="nb-NO" smtClean="0"/>
              <a:t>31.08.2026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b-NO"/>
              <a:t>Nasjonal rådsmodell for e-helse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1FD356-1CC0-514B-B5D9-F98600AAE6F5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13" name="Grafikk 12">
            <a:extLst>
              <a:ext uri="{FF2B5EF4-FFF2-40B4-BE49-F238E27FC236}">
                <a16:creationId xmlns:a16="http://schemas.microsoft.com/office/drawing/2014/main" id="{98A08ECE-605C-49AF-4ABC-1011EFDEFD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2061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h,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1952625"/>
            <a:ext cx="5400675" cy="4356100"/>
          </a:xfrm>
        </p:spPr>
        <p:txBody>
          <a:bodyPr lIns="360000" rIns="0"/>
          <a:lstStyle>
            <a:lvl1pPr>
              <a:defRPr sz="20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C7BF90D-8F29-40C1-CA2D-19D8878F4A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1391920 w 6096000"/>
              <a:gd name="connsiteY1" fmla="*/ 0 h 6858000"/>
              <a:gd name="connsiteX2" fmla="*/ 1391920 w 6096000"/>
              <a:gd name="connsiteY2" fmla="*/ 0 h 6858000"/>
              <a:gd name="connsiteX3" fmla="*/ 4704080 w 6096000"/>
              <a:gd name="connsiteY3" fmla="*/ 0 h 6858000"/>
              <a:gd name="connsiteX4" fmla="*/ 5384780 w 6096000"/>
              <a:gd name="connsiteY4" fmla="*/ 0 h 6858000"/>
              <a:gd name="connsiteX5" fmla="*/ 6096000 w 6096000"/>
              <a:gd name="connsiteY5" fmla="*/ 0 h 6858000"/>
              <a:gd name="connsiteX6" fmla="*/ 6096000 w 6096000"/>
              <a:gd name="connsiteY6" fmla="*/ 711220 h 6858000"/>
              <a:gd name="connsiteX7" fmla="*/ 6096000 w 6096000"/>
              <a:gd name="connsiteY7" fmla="*/ 1391920 h 6858000"/>
              <a:gd name="connsiteX8" fmla="*/ 6096000 w 6096000"/>
              <a:gd name="connsiteY8" fmla="*/ 6146780 h 6858000"/>
              <a:gd name="connsiteX9" fmla="*/ 5384780 w 6096000"/>
              <a:gd name="connsiteY9" fmla="*/ 6858000 h 6858000"/>
              <a:gd name="connsiteX10" fmla="*/ 1391920 w 6096000"/>
              <a:gd name="connsiteY10" fmla="*/ 6858000 h 6858000"/>
              <a:gd name="connsiteX11" fmla="*/ 711220 w 6096000"/>
              <a:gd name="connsiteY11" fmla="*/ 6858000 h 6858000"/>
              <a:gd name="connsiteX12" fmla="*/ 0 w 6096000"/>
              <a:gd name="connsiteY12" fmla="*/ 6858000 h 6858000"/>
              <a:gd name="connsiteX13" fmla="*/ 0 w 6096000"/>
              <a:gd name="connsiteY13" fmla="*/ 5466080 h 6858000"/>
              <a:gd name="connsiteX14" fmla="*/ 0 w 6096000"/>
              <a:gd name="connsiteY14" fmla="*/ 5466080 h 6858000"/>
              <a:gd name="connsiteX15" fmla="*/ 0 w 6096000"/>
              <a:gd name="connsiteY15" fmla="*/ 1391920 h 6858000"/>
              <a:gd name="connsiteX16" fmla="*/ 0 w 6096000"/>
              <a:gd name="connsiteY16" fmla="*/ 13919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1391920" y="0"/>
                </a:lnTo>
                <a:lnTo>
                  <a:pt x="1391920" y="0"/>
                </a:lnTo>
                <a:lnTo>
                  <a:pt x="4704080" y="0"/>
                </a:lnTo>
                <a:lnTo>
                  <a:pt x="5384780" y="0"/>
                </a:lnTo>
                <a:lnTo>
                  <a:pt x="6096000" y="0"/>
                </a:lnTo>
                <a:lnTo>
                  <a:pt x="6096000" y="711220"/>
                </a:lnTo>
                <a:lnTo>
                  <a:pt x="6096000" y="1391920"/>
                </a:lnTo>
                <a:lnTo>
                  <a:pt x="6096000" y="6146780"/>
                </a:lnTo>
                <a:cubicBezTo>
                  <a:pt x="6096000" y="6539576"/>
                  <a:pt x="5777576" y="6858000"/>
                  <a:pt x="5384780" y="6858000"/>
                </a:cubicBezTo>
                <a:lnTo>
                  <a:pt x="1391920" y="6858000"/>
                </a:lnTo>
                <a:lnTo>
                  <a:pt x="711220" y="6858000"/>
                </a:lnTo>
                <a:lnTo>
                  <a:pt x="0" y="6858000"/>
                </a:lnTo>
                <a:lnTo>
                  <a:pt x="0" y="5466080"/>
                </a:lnTo>
                <a:lnTo>
                  <a:pt x="0" y="5466080"/>
                </a:lnTo>
                <a:lnTo>
                  <a:pt x="0" y="1391920"/>
                </a:lnTo>
                <a:lnTo>
                  <a:pt x="0" y="139192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D8FC0-7FE2-454C-A092-0CEBBAE49E09}" type="datetime1">
              <a:rPr lang="nb-NO" smtClean="0"/>
              <a:t>31.08.2026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Nasjonal rådsmodell for e-helse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FC882582-0281-E799-94B4-4E528320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20713"/>
            <a:ext cx="5400675" cy="1044575"/>
          </a:xfrm>
        </p:spPr>
        <p:txBody>
          <a:bodyPr lIns="360000"/>
          <a:lstStyle/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2166772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h, mø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1952625"/>
            <a:ext cx="5400675" cy="4356100"/>
          </a:xfrm>
        </p:spPr>
        <p:txBody>
          <a:bodyPr lIns="360000" rIns="0"/>
          <a:lstStyle>
            <a:lvl1pPr>
              <a:buClrTx/>
              <a:defRPr sz="2000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C7BF90D-8F29-40C1-CA2D-19D8878F4A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1391920 w 6096000"/>
              <a:gd name="connsiteY1" fmla="*/ 0 h 6858000"/>
              <a:gd name="connsiteX2" fmla="*/ 1391920 w 6096000"/>
              <a:gd name="connsiteY2" fmla="*/ 0 h 6858000"/>
              <a:gd name="connsiteX3" fmla="*/ 4704080 w 6096000"/>
              <a:gd name="connsiteY3" fmla="*/ 0 h 6858000"/>
              <a:gd name="connsiteX4" fmla="*/ 5384780 w 6096000"/>
              <a:gd name="connsiteY4" fmla="*/ 0 h 6858000"/>
              <a:gd name="connsiteX5" fmla="*/ 6096000 w 6096000"/>
              <a:gd name="connsiteY5" fmla="*/ 0 h 6858000"/>
              <a:gd name="connsiteX6" fmla="*/ 6096000 w 6096000"/>
              <a:gd name="connsiteY6" fmla="*/ 711220 h 6858000"/>
              <a:gd name="connsiteX7" fmla="*/ 6096000 w 6096000"/>
              <a:gd name="connsiteY7" fmla="*/ 1391920 h 6858000"/>
              <a:gd name="connsiteX8" fmla="*/ 6096000 w 6096000"/>
              <a:gd name="connsiteY8" fmla="*/ 6146780 h 6858000"/>
              <a:gd name="connsiteX9" fmla="*/ 5384780 w 6096000"/>
              <a:gd name="connsiteY9" fmla="*/ 6858000 h 6858000"/>
              <a:gd name="connsiteX10" fmla="*/ 1391920 w 6096000"/>
              <a:gd name="connsiteY10" fmla="*/ 6858000 h 6858000"/>
              <a:gd name="connsiteX11" fmla="*/ 711220 w 6096000"/>
              <a:gd name="connsiteY11" fmla="*/ 6858000 h 6858000"/>
              <a:gd name="connsiteX12" fmla="*/ 0 w 6096000"/>
              <a:gd name="connsiteY12" fmla="*/ 6858000 h 6858000"/>
              <a:gd name="connsiteX13" fmla="*/ 0 w 6096000"/>
              <a:gd name="connsiteY13" fmla="*/ 5466080 h 6858000"/>
              <a:gd name="connsiteX14" fmla="*/ 0 w 6096000"/>
              <a:gd name="connsiteY14" fmla="*/ 5466080 h 6858000"/>
              <a:gd name="connsiteX15" fmla="*/ 0 w 6096000"/>
              <a:gd name="connsiteY15" fmla="*/ 1391920 h 6858000"/>
              <a:gd name="connsiteX16" fmla="*/ 0 w 6096000"/>
              <a:gd name="connsiteY16" fmla="*/ 13919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1391920" y="0"/>
                </a:lnTo>
                <a:lnTo>
                  <a:pt x="1391920" y="0"/>
                </a:lnTo>
                <a:lnTo>
                  <a:pt x="4704080" y="0"/>
                </a:lnTo>
                <a:lnTo>
                  <a:pt x="5384780" y="0"/>
                </a:lnTo>
                <a:lnTo>
                  <a:pt x="6096000" y="0"/>
                </a:lnTo>
                <a:lnTo>
                  <a:pt x="6096000" y="711220"/>
                </a:lnTo>
                <a:lnTo>
                  <a:pt x="6096000" y="1391920"/>
                </a:lnTo>
                <a:lnTo>
                  <a:pt x="6096000" y="6146780"/>
                </a:lnTo>
                <a:cubicBezTo>
                  <a:pt x="6096000" y="6539576"/>
                  <a:pt x="5777576" y="6858000"/>
                  <a:pt x="5384780" y="6858000"/>
                </a:cubicBezTo>
                <a:lnTo>
                  <a:pt x="1391920" y="6858000"/>
                </a:lnTo>
                <a:lnTo>
                  <a:pt x="711220" y="6858000"/>
                </a:lnTo>
                <a:lnTo>
                  <a:pt x="0" y="6858000"/>
                </a:lnTo>
                <a:lnTo>
                  <a:pt x="0" y="5466080"/>
                </a:lnTo>
                <a:lnTo>
                  <a:pt x="0" y="5466080"/>
                </a:lnTo>
                <a:lnTo>
                  <a:pt x="0" y="1391920"/>
                </a:lnTo>
                <a:lnTo>
                  <a:pt x="0" y="139192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A8FCD05-0328-4C5B-AD74-F38F985179B4}" type="datetime1">
              <a:rPr lang="nb-NO" smtClean="0"/>
              <a:t>31.08.2026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-NO"/>
              <a:t>Nasjonal rådsmodell for e-helse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1FD356-1CC0-514B-B5D9-F98600AAE6F5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FC882582-0281-E799-94B4-4E528320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20713"/>
            <a:ext cx="5400675" cy="1044575"/>
          </a:xfrm>
        </p:spPr>
        <p:txBody>
          <a:bodyPr lIns="36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20455663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ldekk bilde, liten tekst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uide">
            <a:extLst>
              <a:ext uri="{FF2B5EF4-FFF2-40B4-BE49-F238E27FC236}">
                <a16:creationId xmlns:a16="http://schemas.microsoft.com/office/drawing/2014/main" id="{699A2402-4AD5-7C27-A860-2798A9BEE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13919" y="549275"/>
            <a:ext cx="1293593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b-NO" sz="120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Blokken plasseres i det hjørnet som passer bildet best.</a:t>
            </a:r>
          </a:p>
          <a:p>
            <a:pPr algn="l"/>
            <a:endParaRPr lang="nb-NO" sz="120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l"/>
            <a:r>
              <a:rPr lang="nb-NO" sz="1200" b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NB. Bruk hjelpelinjer!</a:t>
            </a:r>
          </a:p>
        </p:txBody>
      </p:sp>
      <p:sp>
        <p:nvSpPr>
          <p:cNvPr id="17" name="Bilde">
            <a:extLst>
              <a:ext uri="{FF2B5EF4-FFF2-40B4-BE49-F238E27FC236}">
                <a16:creationId xmlns:a16="http://schemas.microsoft.com/office/drawing/2014/main" id="{564D2DC8-0601-F2BC-389F-6617CEB91D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1" cy="6858000"/>
          </a:xfrm>
          <a:custGeom>
            <a:avLst/>
            <a:gdLst>
              <a:gd name="connsiteX0" fmla="*/ 0 w 12192001"/>
              <a:gd name="connsiteY0" fmla="*/ 0 h 6858000"/>
              <a:gd name="connsiteX1" fmla="*/ 12192001 w 12192001"/>
              <a:gd name="connsiteY1" fmla="*/ 0 h 6858000"/>
              <a:gd name="connsiteX2" fmla="*/ 12192001 w 12192001"/>
              <a:gd name="connsiteY2" fmla="*/ 6858000 h 6858000"/>
              <a:gd name="connsiteX3" fmla="*/ 0 w 121920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1" h="6858000">
                <a:moveTo>
                  <a:pt x="0" y="0"/>
                </a:moveTo>
                <a:lnTo>
                  <a:pt x="12192001" y="0"/>
                </a:lnTo>
                <a:lnTo>
                  <a:pt x="12192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15" name="Tekst">
            <a:extLst>
              <a:ext uri="{FF2B5EF4-FFF2-40B4-BE49-F238E27FC236}">
                <a16:creationId xmlns:a16="http://schemas.microsoft.com/office/drawing/2014/main" id="{80619626-4239-8766-8457-9BD604F819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56588" y="620713"/>
            <a:ext cx="3240000" cy="3095625"/>
          </a:xfrm>
          <a:prstGeom prst="round1Rect">
            <a:avLst>
              <a:gd name="adj" fmla="val 13232"/>
            </a:avLst>
          </a:prstGeom>
          <a:solidFill>
            <a:schemeClr val="bg1"/>
          </a:solidFill>
        </p:spPr>
        <p:txBody>
          <a:bodyPr wrap="square" lIns="288000" tIns="720000" rIns="288000" bIns="288000">
            <a:noAutofit/>
          </a:bodyPr>
          <a:lstStyle>
            <a:lvl1pPr marL="0" indent="-270000">
              <a:lnSpc>
                <a:spcPct val="120000"/>
              </a:lnSpc>
              <a:spcBef>
                <a:spcPts val="500"/>
              </a:spcBef>
              <a:buNone/>
              <a:defRPr sz="1800"/>
            </a:lvl1pPr>
            <a:lvl2pPr marL="0" indent="-2700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491400" indent="0">
              <a:buNone/>
              <a:defRPr sz="2400"/>
            </a:lvl3pPr>
            <a:lvl4pPr marL="707400" indent="0">
              <a:buNone/>
              <a:defRPr sz="2400"/>
            </a:lvl4pPr>
            <a:lvl5pPr marL="923400" indent="0">
              <a:buNone/>
              <a:defRPr sz="2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</p:txBody>
      </p:sp>
      <p:sp>
        <p:nvSpPr>
          <p:cNvPr id="19" name="Graphic">
            <a:extLst>
              <a:ext uri="{FF2B5EF4-FFF2-40B4-BE49-F238E27FC236}">
                <a16:creationId xmlns:a16="http://schemas.microsoft.com/office/drawing/2014/main" id="{52675333-694D-0924-A96E-4336D2083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69111" y="927407"/>
            <a:ext cx="273600" cy="9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r">
              <a:buNone/>
              <a:defRPr sz="100">
                <a:solidFill>
                  <a:schemeClr val="accent1"/>
                </a:solidFill>
              </a:defRPr>
            </a:lvl1pPr>
            <a:lvl2pPr marL="275400" indent="0">
              <a:buNone/>
              <a:defRPr/>
            </a:lvl2pPr>
            <a:lvl3pPr marL="491400" indent="0">
              <a:buNone/>
              <a:defRPr/>
            </a:lvl3pPr>
            <a:lvl4pPr marL="707400" indent="0">
              <a:buNone/>
              <a:defRPr/>
            </a:lvl4pPr>
            <a:lvl5pPr marL="923400" indent="0"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86E30-E647-A7B1-20FD-2D7AE67D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9932D-C062-42FD-8205-149986D831EE}" type="datetime1">
              <a:rPr lang="nb-NO" smtClean="0"/>
              <a:t>31.08.2026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4546F-4602-94E2-3EE7-C9A968699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Nasjonal rådsmodell for e-helse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6D611-E0DF-AAEA-6369-E3B0EE39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630344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ldekk bilde, stor tekst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F352013-EA5A-9DF7-ECA6-48E28A9F3F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1" cy="6858000"/>
          </a:xfrm>
          <a:solidFill>
            <a:schemeClr val="bg2"/>
          </a:solidFill>
        </p:spPr>
        <p:txBody>
          <a:bodyPr/>
          <a:lstStyle/>
          <a:p>
            <a:r>
              <a:rPr lang="nb-NO"/>
              <a:t>Klikk på ikonet for å legge til et bilde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191E82-2792-D04C-A995-820EA7D913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31836" y="620712"/>
            <a:ext cx="4664751" cy="4059661"/>
          </a:xfrm>
          <a:prstGeom prst="round1Rect">
            <a:avLst>
              <a:gd name="adj" fmla="val 17649"/>
            </a:avLst>
          </a:prstGeom>
          <a:solidFill>
            <a:schemeClr val="bg1"/>
          </a:solidFill>
        </p:spPr>
        <p:txBody>
          <a:bodyPr lIns="360000" tIns="1080000" rIns="288000" bIns="288000">
            <a:normAutofit/>
          </a:bodyPr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accent1"/>
                </a:solidFill>
              </a:defRPr>
            </a:lvl1pPr>
            <a:lvl2pPr marL="618300" indent="-342900">
              <a:buFont typeface="Arial" panose="020B0604020202020204" pitchFamily="34" charset="0"/>
              <a:buChar char="•"/>
              <a:defRPr sz="1800"/>
            </a:lvl2pPr>
            <a:lvl3pPr marL="491400" indent="0">
              <a:buNone/>
              <a:defRPr sz="2400"/>
            </a:lvl3pPr>
            <a:lvl4pPr marL="707400" indent="0">
              <a:buNone/>
              <a:defRPr sz="2400"/>
            </a:lvl4pPr>
            <a:lvl5pPr marL="923400" indent="0">
              <a:buNone/>
              <a:defRPr sz="2400"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9859A-F13F-644E-5B05-EDEDB1F1C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282388" y="858777"/>
            <a:ext cx="127862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b-NO" sz="120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Blokken plasseres i det hjørnet som passer bildet best.</a:t>
            </a:r>
          </a:p>
          <a:p>
            <a:pPr algn="l"/>
            <a:endParaRPr lang="nb-NO" sz="1200"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l"/>
            <a:r>
              <a:rPr lang="nb-NO" sz="1200" b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NB. Bruk hjelpelinjer!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06F01F7-3339-FA99-42DD-C2DF02D3F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13346" y="1064315"/>
            <a:ext cx="1782000" cy="237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22166891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plis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ktangel med ett avrundet hjørne 26">
            <a:extLst>
              <a:ext uri="{FF2B5EF4-FFF2-40B4-BE49-F238E27FC236}">
                <a16:creationId xmlns:a16="http://schemas.microsoft.com/office/drawing/2014/main" id="{57F1973D-87A7-31BA-5017-C2C9E3CAA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738298" y="1688482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" name="Rektangel med ett avrundet hjørne 29">
            <a:extLst>
              <a:ext uri="{FF2B5EF4-FFF2-40B4-BE49-F238E27FC236}">
                <a16:creationId xmlns:a16="http://schemas.microsoft.com/office/drawing/2014/main" id="{0C3E80C0-C4B1-95B1-AA3D-B059C4A96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621647" y="1688482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" name="Rektangel med ett avrundet hjørne 32">
            <a:extLst>
              <a:ext uri="{FF2B5EF4-FFF2-40B4-BE49-F238E27FC236}">
                <a16:creationId xmlns:a16="http://schemas.microsoft.com/office/drawing/2014/main" id="{110BC27A-6FBD-D397-7A5E-0841EB5C9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738298" y="3217280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" name="Rektangel med ett avrundet hjørne 35">
            <a:extLst>
              <a:ext uri="{FF2B5EF4-FFF2-40B4-BE49-F238E27FC236}">
                <a16:creationId xmlns:a16="http://schemas.microsoft.com/office/drawing/2014/main" id="{A6E8226A-22D1-57C5-927C-D2689E38F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621647" y="3217280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" name="Rektangel med ett avrundet hjørne 23">
            <a:extLst>
              <a:ext uri="{FF2B5EF4-FFF2-40B4-BE49-F238E27FC236}">
                <a16:creationId xmlns:a16="http://schemas.microsoft.com/office/drawing/2014/main" id="{A46BDC32-E732-2035-0CC8-37F80F217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614559" y="158238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Rektangel med ett avrundet hjørne 1">
            <a:extLst>
              <a:ext uri="{FF2B5EF4-FFF2-40B4-BE49-F238E27FC236}">
                <a16:creationId xmlns:a16="http://schemas.microsoft.com/office/drawing/2014/main" id="{7B97D543-633A-6552-C816-8F0F13409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738299" y="158238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F0FAF3CA-699C-8696-9D6C-E2384ED0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16" name="Plassholder for tekst 15">
            <a:extLst>
              <a:ext uri="{FF2B5EF4-FFF2-40B4-BE49-F238E27FC236}">
                <a16:creationId xmlns:a16="http://schemas.microsoft.com/office/drawing/2014/main" id="{F29D663A-5C67-AD4F-41B3-AC2A4A9995CE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695325" y="1760815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EC989AF-3EEE-FBB8-45EE-BE1F3FDB711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38325" y="1958213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29" name="Plassholder for tekst 15">
            <a:extLst>
              <a:ext uri="{FF2B5EF4-FFF2-40B4-BE49-F238E27FC236}">
                <a16:creationId xmlns:a16="http://schemas.microsoft.com/office/drawing/2014/main" id="{997E195F-8DE9-F78D-8F18-A6E182FDC6B5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695324" y="3291059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7D94495B-5B41-AB85-EFB5-F7BCDD3B9A5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38324" y="3488457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35" name="Plassholder for tekst 15">
            <a:extLst>
              <a:ext uri="{FF2B5EF4-FFF2-40B4-BE49-F238E27FC236}">
                <a16:creationId xmlns:a16="http://schemas.microsoft.com/office/drawing/2014/main" id="{DBA1CFA1-FA6C-8F96-D8D8-2D9DC7FF6FC5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695324" y="4819857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34" name="Content Placeholder 8">
            <a:extLst>
              <a:ext uri="{FF2B5EF4-FFF2-40B4-BE49-F238E27FC236}">
                <a16:creationId xmlns:a16="http://schemas.microsoft.com/office/drawing/2014/main" id="{DD6A0E02-7C35-CB51-E4AF-15050A867F51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38324" y="5017255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26" name="Plassholder for tekst 15">
            <a:extLst>
              <a:ext uri="{FF2B5EF4-FFF2-40B4-BE49-F238E27FC236}">
                <a16:creationId xmlns:a16="http://schemas.microsoft.com/office/drawing/2014/main" id="{EE1DA772-A280-4F5A-BD2C-39DD6DF4E942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6571585" y="1760815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2D9B7D40-8517-2455-FD70-F54269A1E14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814585" y="1958213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32" name="Plassholder for tekst 15">
            <a:extLst>
              <a:ext uri="{FF2B5EF4-FFF2-40B4-BE49-F238E27FC236}">
                <a16:creationId xmlns:a16="http://schemas.microsoft.com/office/drawing/2014/main" id="{8A437FEB-21C6-134C-5E1C-7E929033D20D}"/>
              </a:ext>
            </a:extLst>
          </p:cNvPr>
          <p:cNvSpPr>
            <a:spLocks noGrp="1" noChangeAspect="1"/>
          </p:cNvSpPr>
          <p:nvPr>
            <p:ph type="body" sz="quarter" idx="20" hasCustomPrompt="1"/>
          </p:nvPr>
        </p:nvSpPr>
        <p:spPr>
          <a:xfrm>
            <a:off x="6578673" y="3291059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31" name="Content Placeholder 8">
            <a:extLst>
              <a:ext uri="{FF2B5EF4-FFF2-40B4-BE49-F238E27FC236}">
                <a16:creationId xmlns:a16="http://schemas.microsoft.com/office/drawing/2014/main" id="{5AA9D345-D396-F630-94B7-C83495E161A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21673" y="3488457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38" name="Plassholder for tekst 15">
            <a:extLst>
              <a:ext uri="{FF2B5EF4-FFF2-40B4-BE49-F238E27FC236}">
                <a16:creationId xmlns:a16="http://schemas.microsoft.com/office/drawing/2014/main" id="{0D7A17EC-6223-04C9-0860-2C38C438F067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6578673" y="4819857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37" name="Content Placeholder 8">
            <a:extLst>
              <a:ext uri="{FF2B5EF4-FFF2-40B4-BE49-F238E27FC236}">
                <a16:creationId xmlns:a16="http://schemas.microsoft.com/office/drawing/2014/main" id="{97161D73-9AD7-6882-9A95-6281C16703A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821673" y="5017255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27D2A-CC12-4BD5-A120-3E728E208575}" type="datetime1">
              <a:rPr lang="nb-NO" smtClean="0"/>
              <a:t>31.08.2026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Nasjonal rådsmodell for e-helse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32385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ko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e 7">
            <a:extLst>
              <a:ext uri="{FF2B5EF4-FFF2-40B4-BE49-F238E27FC236}">
                <a16:creationId xmlns:a16="http://schemas.microsoft.com/office/drawing/2014/main" id="{E08352A1-88C0-5E8C-2138-B508E1591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92149" y="1857478"/>
            <a:ext cx="10807001" cy="4463270"/>
            <a:chOff x="692149" y="1857478"/>
            <a:chExt cx="10807001" cy="4463270"/>
          </a:xfrm>
        </p:grpSpPr>
        <p:cxnSp>
          <p:nvCxnSpPr>
            <p:cNvPr id="6" name="Rett linje 63">
              <a:extLst>
                <a:ext uri="{FF2B5EF4-FFF2-40B4-BE49-F238E27FC236}">
                  <a16:creationId xmlns:a16="http://schemas.microsoft.com/office/drawing/2014/main" id="{7C5DB0C2-D68A-F349-7331-C973E6728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6096000" y="1867548"/>
              <a:ext cx="0" cy="445320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Rett linje 63">
              <a:extLst>
                <a:ext uri="{FF2B5EF4-FFF2-40B4-BE49-F238E27FC236}">
                  <a16:creationId xmlns:a16="http://schemas.microsoft.com/office/drawing/2014/main" id="{22EFB831-8E31-F061-973A-1649A97CD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692149" y="1857478"/>
              <a:ext cx="108063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Rett linje 63">
              <a:extLst>
                <a:ext uri="{FF2B5EF4-FFF2-40B4-BE49-F238E27FC236}">
                  <a16:creationId xmlns:a16="http://schemas.microsoft.com/office/drawing/2014/main" id="{03A730AD-F9D3-5EAC-C952-815ACC258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692850" y="3341311"/>
              <a:ext cx="108063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63">
              <a:extLst>
                <a:ext uri="{FF2B5EF4-FFF2-40B4-BE49-F238E27FC236}">
                  <a16:creationId xmlns:a16="http://schemas.microsoft.com/office/drawing/2014/main" id="{97D6C36A-4CD6-DEEE-921E-F5E16C14D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692850" y="4825144"/>
              <a:ext cx="108063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tel 1">
            <a:extLst>
              <a:ext uri="{FF2B5EF4-FFF2-40B4-BE49-F238E27FC236}">
                <a16:creationId xmlns:a16="http://schemas.microsoft.com/office/drawing/2014/main" id="{060ED2AE-977F-6449-9141-8BD81063A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21" name="Plassholder for bilde 20">
            <a:extLst>
              <a:ext uri="{FF2B5EF4-FFF2-40B4-BE49-F238E27FC236}">
                <a16:creationId xmlns:a16="http://schemas.microsoft.com/office/drawing/2014/main" id="{A82E6AC2-6F25-A2A3-6CB4-36C7C2FB5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92149" y="1994638"/>
            <a:ext cx="1116000" cy="1114360"/>
          </a:xfrm>
          <a:prstGeom prst="ellipse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/>
              <a:t>Sett inn ikon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EC989AF-3EEE-FBB8-45EE-BE1F3FDB711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8288" y="2070838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22" name="Plassholder for bilde 20">
            <a:extLst>
              <a:ext uri="{FF2B5EF4-FFF2-40B4-BE49-F238E27FC236}">
                <a16:creationId xmlns:a16="http://schemas.microsoft.com/office/drawing/2014/main" id="{E880C591-49FA-A4B7-1314-2F8ED4F3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692149" y="3478471"/>
            <a:ext cx="1116000" cy="1114360"/>
          </a:xfrm>
          <a:prstGeom prst="ellipse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/>
              <a:t>Sett inn ikon</a:t>
            </a:r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7D94495B-5B41-AB85-EFB5-F7BCDD3B9A5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58287" y="3554671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23" name="Plassholder for bilde 20">
            <a:extLst>
              <a:ext uri="{FF2B5EF4-FFF2-40B4-BE49-F238E27FC236}">
                <a16:creationId xmlns:a16="http://schemas.microsoft.com/office/drawing/2014/main" id="{42793EC4-7310-EB6F-1920-C87E7CFE7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692149" y="4962304"/>
            <a:ext cx="1116000" cy="1114360"/>
          </a:xfrm>
          <a:prstGeom prst="ellipse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/>
              <a:t>Sett inn ikon</a:t>
            </a:r>
          </a:p>
        </p:txBody>
      </p:sp>
      <p:sp>
        <p:nvSpPr>
          <p:cNvPr id="34" name="Content Placeholder 8">
            <a:extLst>
              <a:ext uri="{FF2B5EF4-FFF2-40B4-BE49-F238E27FC236}">
                <a16:creationId xmlns:a16="http://schemas.microsoft.com/office/drawing/2014/main" id="{DD6A0E02-7C35-CB51-E4AF-15050A867F51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058287" y="5038504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39" name="Plassholder for bilde 20">
            <a:extLst>
              <a:ext uri="{FF2B5EF4-FFF2-40B4-BE49-F238E27FC236}">
                <a16:creationId xmlns:a16="http://schemas.microsoft.com/office/drawing/2014/main" id="{7F97DC73-3E9C-05A1-343B-19AF324DF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348670" y="1994638"/>
            <a:ext cx="1116000" cy="1114360"/>
          </a:xfrm>
          <a:prstGeom prst="ellipse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/>
              <a:t>Sett inn ikon</a:t>
            </a:r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2D9B7D40-8517-2455-FD70-F54269A1E14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717339" y="2070838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40" name="Plassholder for bilde 20">
            <a:extLst>
              <a:ext uri="{FF2B5EF4-FFF2-40B4-BE49-F238E27FC236}">
                <a16:creationId xmlns:a16="http://schemas.microsoft.com/office/drawing/2014/main" id="{E967C2DD-340A-97E2-5EA9-A2BE5BCBB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348670" y="3478471"/>
            <a:ext cx="1116000" cy="1114360"/>
          </a:xfrm>
          <a:prstGeom prst="ellipse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/>
              <a:t>Sett inn ikon</a:t>
            </a:r>
          </a:p>
        </p:txBody>
      </p:sp>
      <p:sp>
        <p:nvSpPr>
          <p:cNvPr id="31" name="Content Placeholder 8">
            <a:extLst>
              <a:ext uri="{FF2B5EF4-FFF2-40B4-BE49-F238E27FC236}">
                <a16:creationId xmlns:a16="http://schemas.microsoft.com/office/drawing/2014/main" id="{5AA9D345-D396-F630-94B7-C83495E161A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724427" y="3554671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41" name="Plassholder for bilde 20">
            <a:extLst>
              <a:ext uri="{FF2B5EF4-FFF2-40B4-BE49-F238E27FC236}">
                <a16:creationId xmlns:a16="http://schemas.microsoft.com/office/drawing/2014/main" id="{2BE01866-2F5C-245D-5511-23E6F2F6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6348670" y="4962304"/>
            <a:ext cx="1116000" cy="1114360"/>
          </a:xfrm>
          <a:prstGeom prst="ellipse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/>
              <a:t>Sett inn ikon</a:t>
            </a:r>
          </a:p>
        </p:txBody>
      </p:sp>
      <p:sp>
        <p:nvSpPr>
          <p:cNvPr id="37" name="Content Placeholder 8">
            <a:extLst>
              <a:ext uri="{FF2B5EF4-FFF2-40B4-BE49-F238E27FC236}">
                <a16:creationId xmlns:a16="http://schemas.microsoft.com/office/drawing/2014/main" id="{97161D73-9AD7-6882-9A95-6281C16703A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724427" y="5038504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605C4-15C5-4F5B-8EEF-2CD64507A2DD}" type="datetime1">
              <a:rPr lang="nb-NO" smtClean="0"/>
              <a:t>31.08.2026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Nasjonal rådsmodell for e-helse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014397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Logo Helsedirektoratet">
            <a:extLst>
              <a:ext uri="{FF2B5EF4-FFF2-40B4-BE49-F238E27FC236}">
                <a16:creationId xmlns:a16="http://schemas.microsoft.com/office/drawing/2014/main" id="{8E204606-017A-D877-E2B6-991EDDD9F8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6329" y="3231000"/>
            <a:ext cx="3079343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009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E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k 2">
            <a:extLst>
              <a:ext uri="{FF2B5EF4-FFF2-40B4-BE49-F238E27FC236}">
                <a16:creationId xmlns:a16="http://schemas.microsoft.com/office/drawing/2014/main" id="{4EDEB077-60A6-8E65-2A18-5B3E147187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6329" y="3231000"/>
            <a:ext cx="3078000" cy="51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113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ingle Corner of Rectangle 10">
            <a:extLst>
              <a:ext uri="{FF2B5EF4-FFF2-40B4-BE49-F238E27FC236}">
                <a16:creationId xmlns:a16="http://schemas.microsoft.com/office/drawing/2014/main" id="{077A94D6-BECE-8552-A3E8-6334DF9FE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8725"/>
            <a:ext cx="12192000" cy="549275"/>
          </a:xfrm>
          <a:prstGeom prst="round1Rect">
            <a:avLst>
              <a:gd name="adj" fmla="val 416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pic>
        <p:nvPicPr>
          <p:cNvPr id="8" name="Grafikk 7">
            <a:extLst>
              <a:ext uri="{FF2B5EF4-FFF2-40B4-BE49-F238E27FC236}">
                <a16:creationId xmlns:a16="http://schemas.microsoft.com/office/drawing/2014/main" id="{F321F365-1F59-1477-7A2C-4F42DECC6D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96377E-9BCD-9C71-7D7B-E651B21FE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620713"/>
            <a:ext cx="9721850" cy="10445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0BB8E-72F1-6DCB-E97A-20087088A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1952625"/>
            <a:ext cx="9721850" cy="41632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BEE82-67D0-8500-8B50-44E3E88AC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75725" y="6460962"/>
            <a:ext cx="1441450" cy="244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>
                <a:solidFill>
                  <a:schemeClr val="accent3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</a:lstStyle>
          <a:p>
            <a:fld id="{C3D6FDE4-114E-4604-A708-E48251FFC5A8}" type="datetime1">
              <a:rPr lang="nb-NO" smtClean="0"/>
              <a:t>31.08.2026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9AC1F-52BA-7486-B3F5-084EE7EC2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688" y="6460962"/>
            <a:ext cx="7200900" cy="244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Roboto Medium" panose="02000000000000000000" pitchFamily="2" charset="0"/>
                <a:cs typeface="Roboto Medium" panose="02000000000000000000" pitchFamily="2" charset="0"/>
              </a:defRPr>
            </a:lvl1pPr>
          </a:lstStyle>
          <a:p>
            <a:r>
              <a:rPr lang="nb-NO"/>
              <a:t>Nasjonal rådsmodell for e-helse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D9266-D53E-DABB-1517-5C48E7C9A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174" y="6460962"/>
            <a:ext cx="1441449" cy="244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 b="1">
                <a:solidFill>
                  <a:schemeClr val="accent3"/>
                </a:solidFill>
                <a:latin typeface="+mn-lt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fld id="{341FD356-1CC0-514B-B5D9-F98600AAE6F5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99174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  <p:sldLayoutId id="2147483755" r:id="rId23"/>
    <p:sldLayoutId id="2147483756" r:id="rId2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90000"/>
              <a:lumOff val="10000"/>
            </a:schemeClr>
          </a:solidFill>
          <a:latin typeface="+mn-lt"/>
          <a:ea typeface="Roboto Medium" panose="02000000000000000000" pitchFamily="2" charset="0"/>
          <a:cs typeface="Roboto Medium" panose="02000000000000000000" pitchFamily="2" charset="0"/>
        </a:defRPr>
      </a:lvl1pPr>
      <a:lvl2pPr marL="504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+mn-lt"/>
          <a:ea typeface="Roboto Medium" panose="02000000000000000000" pitchFamily="2" charset="0"/>
          <a:cs typeface="Roboto Medium" panose="02000000000000000000" pitchFamily="2" charset="0"/>
        </a:defRPr>
      </a:lvl2pPr>
      <a:lvl3pPr marL="720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+mn-lt"/>
          <a:ea typeface="Roboto Medium" panose="02000000000000000000" pitchFamily="2" charset="0"/>
          <a:cs typeface="Roboto Medium" panose="02000000000000000000" pitchFamily="2" charset="0"/>
        </a:defRPr>
      </a:lvl3pPr>
      <a:lvl4pPr marL="93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90000"/>
              <a:lumOff val="10000"/>
            </a:schemeClr>
          </a:solidFill>
          <a:latin typeface="+mn-lt"/>
          <a:ea typeface="Roboto Medium" panose="02000000000000000000" pitchFamily="2" charset="0"/>
          <a:cs typeface="Roboto Medium" panose="02000000000000000000" pitchFamily="2" charset="0"/>
        </a:defRPr>
      </a:lvl4pPr>
      <a:lvl5pPr marL="1152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90000"/>
              <a:lumOff val="10000"/>
            </a:schemeClr>
          </a:solidFill>
          <a:latin typeface="+mn-lt"/>
          <a:ea typeface="Roboto Medium" panose="02000000000000000000" pitchFamily="2" charset="0"/>
          <a:cs typeface="Roboto Medium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1049">
          <p15:clr>
            <a:srgbClr val="F26B43"/>
          </p15:clr>
        </p15:guide>
        <p15:guide id="6" pos="7469">
          <p15:clr>
            <a:srgbClr val="F26B43"/>
          </p15:clr>
        </p15:guide>
        <p15:guide id="7" pos="1572">
          <p15:clr>
            <a:srgbClr val="F26B43"/>
          </p15:clr>
        </p15:guide>
        <p15:guide id="8" pos="5654">
          <p15:clr>
            <a:srgbClr val="F26B43"/>
          </p15:clr>
        </p15:guide>
        <p15:guide id="9" pos="1118">
          <p15:clr>
            <a:srgbClr val="9FCC3B"/>
          </p15:clr>
        </p15:guide>
        <p15:guide id="10" pos="3386">
          <p15:clr>
            <a:srgbClr val="F26B43"/>
          </p15:clr>
        </p15:guide>
        <p15:guide id="11" pos="6562">
          <p15:clr>
            <a:srgbClr val="9FCC3B"/>
          </p15:clr>
        </p15:guide>
        <p15:guide id="12" pos="4747">
          <p15:clr>
            <a:srgbClr val="F26B43"/>
          </p15:clr>
        </p15:guide>
        <p15:guide id="13" pos="665">
          <p15:clr>
            <a:srgbClr val="F26B43"/>
          </p15:clr>
        </p15:guide>
        <p15:guide id="14" pos="6992">
          <p15:clr>
            <a:srgbClr val="F26B43"/>
          </p15:clr>
        </p15:guide>
        <p15:guide id="15" pos="6108">
          <p15:clr>
            <a:srgbClr val="F26B43"/>
          </p15:clr>
        </p15:guide>
        <p15:guide id="16" pos="5201">
          <p15:clr>
            <a:srgbClr val="F26B43"/>
          </p15:clr>
        </p15:guide>
        <p15:guide id="17" pos="4294">
          <p15:clr>
            <a:srgbClr val="F26B43"/>
          </p15:clr>
        </p15:guide>
        <p15:guide id="18" pos="2933">
          <p15:clr>
            <a:srgbClr val="F26B43"/>
          </p15:clr>
        </p15:guide>
        <p15:guide id="19" pos="2479">
          <p15:clr>
            <a:srgbClr val="F26B43"/>
          </p15:clr>
        </p15:guide>
        <p15:guide id="20" pos="2026">
          <p15:clr>
            <a:srgbClr val="F26B43"/>
          </p15:clr>
        </p15:guide>
        <p15:guide id="21" pos="438">
          <p15:clr>
            <a:srgbClr val="F26B43"/>
          </p15:clr>
        </p15:guide>
        <p15:guide id="22" pos="7242">
          <p15:clr>
            <a:srgbClr val="F26B43"/>
          </p15:clr>
        </p15:guide>
        <p15:guide id="23" orient="horz" pos="210">
          <p15:clr>
            <a:srgbClr val="F26B43"/>
          </p15:clr>
        </p15:guide>
        <p15:guide id="24" orient="horz" pos="4110">
          <p15:clr>
            <a:srgbClr val="F26B43"/>
          </p15:clr>
        </p15:guide>
        <p15:guide id="25" orient="horz" pos="1230">
          <p15:clr>
            <a:srgbClr val="F26B43"/>
          </p15:clr>
        </p15:guide>
        <p15:guide id="26" orient="horz" pos="39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A8C5A0C-9651-1E07-3358-5A0C4569351C}"/>
              </a:ext>
            </a:extLst>
          </p:cNvPr>
          <p:cNvSpPr/>
          <p:nvPr/>
        </p:nvSpPr>
        <p:spPr>
          <a:xfrm>
            <a:off x="2741486" y="1916776"/>
            <a:ext cx="8994444" cy="2909717"/>
          </a:xfrm>
          <a:prstGeom prst="roundRect">
            <a:avLst>
              <a:gd name="adj" fmla="val 392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nb-NO" sz="1400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9CADCE-A320-FDE9-6170-8C09050F8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20713"/>
            <a:ext cx="10932613" cy="1044575"/>
          </a:xfrm>
        </p:spPr>
        <p:txBody>
          <a:bodyPr>
            <a:normAutofit fontScale="90000"/>
          </a:bodyPr>
          <a:lstStyle/>
          <a:p>
            <a:r>
              <a:rPr lang="nb-NO"/>
              <a:t>Fremtidens helsetjeneste vil bestå av nye tjenester hvor innbygger kan gjøre mer selv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1F1C6B-327F-DD9E-FD34-65E60D5F6D26}"/>
              </a:ext>
            </a:extLst>
          </p:cNvPr>
          <p:cNvSpPr/>
          <p:nvPr/>
        </p:nvSpPr>
        <p:spPr>
          <a:xfrm flipH="1">
            <a:off x="695325" y="2065045"/>
            <a:ext cx="862951" cy="865898"/>
          </a:xfrm>
          <a:prstGeom prst="roundRect">
            <a:avLst>
              <a:gd name="adj" fmla="val 50000"/>
            </a:avLst>
          </a:prstGeom>
          <a:blipFill>
            <a:blip r:embed="rId2"/>
            <a:stretch>
              <a:fillRect/>
            </a:stretch>
          </a:blipFill>
          <a:ln w="762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CCABB63-8A24-ECAE-7E79-AEEFE9C10238}"/>
              </a:ext>
            </a:extLst>
          </p:cNvPr>
          <p:cNvSpPr/>
          <p:nvPr/>
        </p:nvSpPr>
        <p:spPr>
          <a:xfrm flipH="1">
            <a:off x="695324" y="4547157"/>
            <a:ext cx="862951" cy="865898"/>
          </a:xfrm>
          <a:prstGeom prst="roundRect">
            <a:avLst>
              <a:gd name="adj" fmla="val 50000"/>
            </a:avLst>
          </a:prstGeom>
          <a:blipFill>
            <a:blip r:embed="rId3"/>
            <a:stretch>
              <a:fillRect/>
            </a:stretch>
          </a:blipFill>
          <a:ln w="762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DBB5F1E-3334-68D5-7CD5-5E1D903F3CBE}"/>
              </a:ext>
            </a:extLst>
          </p:cNvPr>
          <p:cNvSpPr/>
          <p:nvPr/>
        </p:nvSpPr>
        <p:spPr>
          <a:xfrm>
            <a:off x="1713293" y="2630556"/>
            <a:ext cx="862951" cy="865898"/>
          </a:xfrm>
          <a:prstGeom prst="roundRect">
            <a:avLst>
              <a:gd name="adj" fmla="val 50000"/>
            </a:avLst>
          </a:prstGeom>
          <a:blipFill>
            <a:blip r:embed="rId4"/>
            <a:stretch>
              <a:fillRect/>
            </a:stretch>
          </a:blipFill>
          <a:ln w="762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DA693CB-6B7B-6C15-BE51-F91E7EF3F969}"/>
              </a:ext>
            </a:extLst>
          </p:cNvPr>
          <p:cNvSpPr/>
          <p:nvPr/>
        </p:nvSpPr>
        <p:spPr>
          <a:xfrm flipH="1">
            <a:off x="1713292" y="3886448"/>
            <a:ext cx="862951" cy="865898"/>
          </a:xfrm>
          <a:prstGeom prst="roundRect">
            <a:avLst>
              <a:gd name="adj" fmla="val 50000"/>
            </a:avLst>
          </a:prstGeom>
          <a:blipFill>
            <a:blip r:embed="rId5"/>
            <a:stretch>
              <a:fillRect/>
            </a:stretch>
          </a:blipFill>
          <a:ln w="762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D47BC93-4F8E-D643-A6C1-B68BEF72A1B4}"/>
              </a:ext>
            </a:extLst>
          </p:cNvPr>
          <p:cNvSpPr/>
          <p:nvPr/>
        </p:nvSpPr>
        <p:spPr>
          <a:xfrm flipH="1">
            <a:off x="695326" y="3281502"/>
            <a:ext cx="862951" cy="865898"/>
          </a:xfrm>
          <a:prstGeom prst="roundRect">
            <a:avLst>
              <a:gd name="adj" fmla="val 50000"/>
            </a:avLst>
          </a:prstGeom>
          <a:blipFill>
            <a:blip r:embed="rId6"/>
            <a:stretch>
              <a:fillRect/>
            </a:stretch>
          </a:blipFill>
          <a:ln w="762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385A862-A814-58D3-7C2D-2D3A76B6DCB7}"/>
              </a:ext>
            </a:extLst>
          </p:cNvPr>
          <p:cNvSpPr/>
          <p:nvPr/>
        </p:nvSpPr>
        <p:spPr>
          <a:xfrm>
            <a:off x="3085508" y="3453499"/>
            <a:ext cx="1726060" cy="43294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>
                <a:solidFill>
                  <a:schemeClr val="tx1"/>
                </a:solidFill>
              </a:rPr>
              <a:t>Tjenesteveiviser</a:t>
            </a:r>
            <a:endParaRPr lang="nb-NO">
              <a:solidFill>
                <a:schemeClr val="tx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3CF2DAF-5FB2-8D4B-C99E-4F50317CB595}"/>
              </a:ext>
            </a:extLst>
          </p:cNvPr>
          <p:cNvSpPr/>
          <p:nvPr/>
        </p:nvSpPr>
        <p:spPr>
          <a:xfrm>
            <a:off x="4467546" y="2630556"/>
            <a:ext cx="1726060" cy="43294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>
                <a:solidFill>
                  <a:schemeClr val="tx1"/>
                </a:solidFill>
              </a:rPr>
              <a:t>Personlige helseråd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49E7C2B-1536-AB32-844A-FD27392043BA}"/>
              </a:ext>
            </a:extLst>
          </p:cNvPr>
          <p:cNvSpPr/>
          <p:nvPr/>
        </p:nvSpPr>
        <p:spPr>
          <a:xfrm>
            <a:off x="4926001" y="4254013"/>
            <a:ext cx="1726060" cy="43294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>
                <a:solidFill>
                  <a:schemeClr val="tx1"/>
                </a:solidFill>
              </a:rPr>
              <a:t>Nasjonal nettlege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0126C91-CA05-7FB1-20EB-64EC1FCB1330}"/>
              </a:ext>
            </a:extLst>
          </p:cNvPr>
          <p:cNvSpPr/>
          <p:nvPr/>
        </p:nvSpPr>
        <p:spPr>
          <a:xfrm>
            <a:off x="6198386" y="3279979"/>
            <a:ext cx="1726060" cy="43294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>
                <a:solidFill>
                  <a:schemeClr val="tx1"/>
                </a:solidFill>
              </a:rPr>
              <a:t>Selvhjelpsverktøy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4EBBB5A-3EA4-59CC-026F-226E55BFEEFD}"/>
              </a:ext>
            </a:extLst>
          </p:cNvPr>
          <p:cNvSpPr/>
          <p:nvPr/>
        </p:nvSpPr>
        <p:spPr>
          <a:xfrm>
            <a:off x="9150933" y="3150024"/>
            <a:ext cx="2477006" cy="43294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nb-NO"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Integrerte </a:t>
            </a:r>
            <a:r>
              <a:rPr lang="nb-NO" sz="120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digifysiske</a:t>
            </a:r>
            <a:r>
              <a:rPr lang="nb-NO"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tjenester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A1CB93F8-DBE8-C5DC-167A-34E0433716AA}"/>
              </a:ext>
            </a:extLst>
          </p:cNvPr>
          <p:cNvSpPr/>
          <p:nvPr/>
        </p:nvSpPr>
        <p:spPr>
          <a:xfrm>
            <a:off x="2540283" y="3648593"/>
            <a:ext cx="441789" cy="42760"/>
          </a:xfrm>
          <a:custGeom>
            <a:avLst/>
            <a:gdLst>
              <a:gd name="csX0" fmla="*/ 0 w 441789"/>
              <a:gd name="csY0" fmla="*/ 11937 h 42760"/>
              <a:gd name="csX1" fmla="*/ 256854 w 441789"/>
              <a:gd name="csY1" fmla="*/ 1663 h 42760"/>
              <a:gd name="csX2" fmla="*/ 441789 w 441789"/>
              <a:gd name="csY2" fmla="*/ 42760 h 42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1789" h="42760">
                <a:moveTo>
                  <a:pt x="0" y="11937"/>
                </a:moveTo>
                <a:cubicBezTo>
                  <a:pt x="91611" y="4231"/>
                  <a:pt x="183223" y="-3474"/>
                  <a:pt x="256854" y="1663"/>
                </a:cubicBezTo>
                <a:cubicBezTo>
                  <a:pt x="330485" y="6800"/>
                  <a:pt x="386137" y="24780"/>
                  <a:pt x="441789" y="4276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E3FADF01-750F-2C10-7663-3DF82A03AD37}"/>
              </a:ext>
            </a:extLst>
          </p:cNvPr>
          <p:cNvSpPr/>
          <p:nvPr/>
        </p:nvSpPr>
        <p:spPr>
          <a:xfrm rot="19935391" flipV="1">
            <a:off x="4814281" y="3261290"/>
            <a:ext cx="415250" cy="114201"/>
          </a:xfrm>
          <a:custGeom>
            <a:avLst/>
            <a:gdLst>
              <a:gd name="csX0" fmla="*/ 0 w 441789"/>
              <a:gd name="csY0" fmla="*/ 11937 h 42760"/>
              <a:gd name="csX1" fmla="*/ 256854 w 441789"/>
              <a:gd name="csY1" fmla="*/ 1663 h 42760"/>
              <a:gd name="csX2" fmla="*/ 441789 w 441789"/>
              <a:gd name="csY2" fmla="*/ 42760 h 42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1789" h="42760">
                <a:moveTo>
                  <a:pt x="0" y="11937"/>
                </a:moveTo>
                <a:cubicBezTo>
                  <a:pt x="91611" y="4231"/>
                  <a:pt x="183223" y="-3474"/>
                  <a:pt x="256854" y="1663"/>
                </a:cubicBezTo>
                <a:cubicBezTo>
                  <a:pt x="330485" y="6800"/>
                  <a:pt x="386137" y="24780"/>
                  <a:pt x="441789" y="4276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61654A12-E806-6AFE-3CE5-5481520CF6C3}"/>
              </a:ext>
            </a:extLst>
          </p:cNvPr>
          <p:cNvSpPr/>
          <p:nvPr/>
        </p:nvSpPr>
        <p:spPr>
          <a:xfrm rot="1304110">
            <a:off x="4872579" y="3802974"/>
            <a:ext cx="415250" cy="166948"/>
          </a:xfrm>
          <a:custGeom>
            <a:avLst/>
            <a:gdLst>
              <a:gd name="csX0" fmla="*/ 0 w 441789"/>
              <a:gd name="csY0" fmla="*/ 11937 h 42760"/>
              <a:gd name="csX1" fmla="*/ 256854 w 441789"/>
              <a:gd name="csY1" fmla="*/ 1663 h 42760"/>
              <a:gd name="csX2" fmla="*/ 441789 w 441789"/>
              <a:gd name="csY2" fmla="*/ 42760 h 42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1789" h="42760">
                <a:moveTo>
                  <a:pt x="0" y="11937"/>
                </a:moveTo>
                <a:cubicBezTo>
                  <a:pt x="91611" y="4231"/>
                  <a:pt x="183223" y="-3474"/>
                  <a:pt x="256854" y="1663"/>
                </a:cubicBezTo>
                <a:cubicBezTo>
                  <a:pt x="330485" y="6800"/>
                  <a:pt x="386137" y="24780"/>
                  <a:pt x="441789" y="4276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70815E47-8A14-1960-916F-33E794084DC1}"/>
              </a:ext>
            </a:extLst>
          </p:cNvPr>
          <p:cNvSpPr/>
          <p:nvPr/>
        </p:nvSpPr>
        <p:spPr>
          <a:xfrm rot="19935391" flipV="1">
            <a:off x="6701369" y="3943112"/>
            <a:ext cx="415250" cy="114201"/>
          </a:xfrm>
          <a:custGeom>
            <a:avLst/>
            <a:gdLst>
              <a:gd name="csX0" fmla="*/ 0 w 441789"/>
              <a:gd name="csY0" fmla="*/ 11937 h 42760"/>
              <a:gd name="csX1" fmla="*/ 256854 w 441789"/>
              <a:gd name="csY1" fmla="*/ 1663 h 42760"/>
              <a:gd name="csX2" fmla="*/ 441789 w 441789"/>
              <a:gd name="csY2" fmla="*/ 42760 h 42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1789" h="42760">
                <a:moveTo>
                  <a:pt x="0" y="11937"/>
                </a:moveTo>
                <a:cubicBezTo>
                  <a:pt x="91611" y="4231"/>
                  <a:pt x="183223" y="-3474"/>
                  <a:pt x="256854" y="1663"/>
                </a:cubicBezTo>
                <a:cubicBezTo>
                  <a:pt x="330485" y="6800"/>
                  <a:pt x="386137" y="24780"/>
                  <a:pt x="441789" y="4276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F5A95B83-AF59-732C-117D-54C3232A0EAC}"/>
              </a:ext>
            </a:extLst>
          </p:cNvPr>
          <p:cNvSpPr/>
          <p:nvPr/>
        </p:nvSpPr>
        <p:spPr>
          <a:xfrm flipV="1">
            <a:off x="8160958" y="3413950"/>
            <a:ext cx="850961" cy="141579"/>
          </a:xfrm>
          <a:custGeom>
            <a:avLst/>
            <a:gdLst>
              <a:gd name="csX0" fmla="*/ 0 w 441789"/>
              <a:gd name="csY0" fmla="*/ 11937 h 42760"/>
              <a:gd name="csX1" fmla="*/ 256854 w 441789"/>
              <a:gd name="csY1" fmla="*/ 1663 h 42760"/>
              <a:gd name="csX2" fmla="*/ 441789 w 441789"/>
              <a:gd name="csY2" fmla="*/ 42760 h 42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1789" h="42760">
                <a:moveTo>
                  <a:pt x="0" y="11937"/>
                </a:moveTo>
                <a:cubicBezTo>
                  <a:pt x="91611" y="4231"/>
                  <a:pt x="183223" y="-3474"/>
                  <a:pt x="256854" y="1663"/>
                </a:cubicBezTo>
                <a:cubicBezTo>
                  <a:pt x="330485" y="6800"/>
                  <a:pt x="386137" y="24780"/>
                  <a:pt x="441789" y="4276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C786FA5-8C5C-3E3B-2B7C-7C65208DC09D}"/>
              </a:ext>
            </a:extLst>
          </p:cNvPr>
          <p:cNvSpPr/>
          <p:nvPr/>
        </p:nvSpPr>
        <p:spPr>
          <a:xfrm>
            <a:off x="6860379" y="2182384"/>
            <a:ext cx="1726060" cy="43294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nb-NO"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Automatiserte helsetjenester</a:t>
            </a: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FF7039B9-C91F-5FD9-E565-F31D8907E0E9}"/>
              </a:ext>
            </a:extLst>
          </p:cNvPr>
          <p:cNvSpPr/>
          <p:nvPr/>
        </p:nvSpPr>
        <p:spPr>
          <a:xfrm rot="20907805" flipV="1">
            <a:off x="6367721" y="2716458"/>
            <a:ext cx="568680" cy="89615"/>
          </a:xfrm>
          <a:custGeom>
            <a:avLst/>
            <a:gdLst>
              <a:gd name="csX0" fmla="*/ 0 w 441789"/>
              <a:gd name="csY0" fmla="*/ 11937 h 42760"/>
              <a:gd name="csX1" fmla="*/ 256854 w 441789"/>
              <a:gd name="csY1" fmla="*/ 1663 h 42760"/>
              <a:gd name="csX2" fmla="*/ 441789 w 441789"/>
              <a:gd name="csY2" fmla="*/ 42760 h 42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1789" h="42760">
                <a:moveTo>
                  <a:pt x="0" y="11937"/>
                </a:moveTo>
                <a:cubicBezTo>
                  <a:pt x="91611" y="4231"/>
                  <a:pt x="183223" y="-3474"/>
                  <a:pt x="256854" y="1663"/>
                </a:cubicBezTo>
                <a:cubicBezTo>
                  <a:pt x="330485" y="6800"/>
                  <a:pt x="386137" y="24780"/>
                  <a:pt x="441789" y="4276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1A58D422-89A1-CA21-5A49-C342B7DB9749}"/>
              </a:ext>
            </a:extLst>
          </p:cNvPr>
          <p:cNvSpPr/>
          <p:nvPr/>
        </p:nvSpPr>
        <p:spPr>
          <a:xfrm flipV="1">
            <a:off x="2950488" y="2975026"/>
            <a:ext cx="1346160" cy="45719"/>
          </a:xfrm>
          <a:custGeom>
            <a:avLst/>
            <a:gdLst>
              <a:gd name="csX0" fmla="*/ 0 w 441789"/>
              <a:gd name="csY0" fmla="*/ 11937 h 42760"/>
              <a:gd name="csX1" fmla="*/ 256854 w 441789"/>
              <a:gd name="csY1" fmla="*/ 1663 h 42760"/>
              <a:gd name="csX2" fmla="*/ 441789 w 441789"/>
              <a:gd name="csY2" fmla="*/ 42760 h 42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1789" h="42760">
                <a:moveTo>
                  <a:pt x="0" y="11937"/>
                </a:moveTo>
                <a:cubicBezTo>
                  <a:pt x="91611" y="4231"/>
                  <a:pt x="183223" y="-3474"/>
                  <a:pt x="256854" y="1663"/>
                </a:cubicBezTo>
                <a:cubicBezTo>
                  <a:pt x="330485" y="6800"/>
                  <a:pt x="386137" y="24780"/>
                  <a:pt x="441789" y="4276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3251F81-C457-6FA7-A50D-0884931FD59B}"/>
              </a:ext>
            </a:extLst>
          </p:cNvPr>
          <p:cNvSpPr/>
          <p:nvPr/>
        </p:nvSpPr>
        <p:spPr>
          <a:xfrm rot="1093726">
            <a:off x="6247632" y="3062823"/>
            <a:ext cx="568680" cy="45719"/>
          </a:xfrm>
          <a:custGeom>
            <a:avLst/>
            <a:gdLst>
              <a:gd name="csX0" fmla="*/ 0 w 441789"/>
              <a:gd name="csY0" fmla="*/ 11937 h 42760"/>
              <a:gd name="csX1" fmla="*/ 256854 w 441789"/>
              <a:gd name="csY1" fmla="*/ 1663 h 42760"/>
              <a:gd name="csX2" fmla="*/ 441789 w 441789"/>
              <a:gd name="csY2" fmla="*/ 42760 h 42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1789" h="42760">
                <a:moveTo>
                  <a:pt x="0" y="11937"/>
                </a:moveTo>
                <a:cubicBezTo>
                  <a:pt x="91611" y="4231"/>
                  <a:pt x="183223" y="-3474"/>
                  <a:pt x="256854" y="1663"/>
                </a:cubicBezTo>
                <a:cubicBezTo>
                  <a:pt x="330485" y="6800"/>
                  <a:pt x="386137" y="24780"/>
                  <a:pt x="441789" y="4276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9416875-B7A5-8A3F-5B0B-99FD16B60375}"/>
              </a:ext>
            </a:extLst>
          </p:cNvPr>
          <p:cNvSpPr/>
          <p:nvPr/>
        </p:nvSpPr>
        <p:spPr>
          <a:xfrm>
            <a:off x="2741486" y="5295680"/>
            <a:ext cx="8994444" cy="617027"/>
          </a:xfrm>
          <a:prstGeom prst="roundRect">
            <a:avLst>
              <a:gd name="adj" fmla="val 1317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>
                <a:solidFill>
                  <a:schemeClr val="tx1"/>
                </a:solidFill>
              </a:rPr>
              <a:t>Sikre forsvarlighet og kvalitet</a:t>
            </a: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F6C8644E-D581-D975-A507-6966B40B7631}"/>
              </a:ext>
            </a:extLst>
          </p:cNvPr>
          <p:cNvSpPr/>
          <p:nvPr/>
        </p:nvSpPr>
        <p:spPr>
          <a:xfrm rot="14039640">
            <a:off x="3636007" y="5114213"/>
            <a:ext cx="277671" cy="52410"/>
          </a:xfrm>
          <a:custGeom>
            <a:avLst/>
            <a:gdLst>
              <a:gd name="csX0" fmla="*/ 0 w 441789"/>
              <a:gd name="csY0" fmla="*/ 11937 h 42760"/>
              <a:gd name="csX1" fmla="*/ 256854 w 441789"/>
              <a:gd name="csY1" fmla="*/ 1663 h 42760"/>
              <a:gd name="csX2" fmla="*/ 441789 w 441789"/>
              <a:gd name="csY2" fmla="*/ 42760 h 42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1789" h="42760">
                <a:moveTo>
                  <a:pt x="0" y="11937"/>
                </a:moveTo>
                <a:cubicBezTo>
                  <a:pt x="91611" y="4231"/>
                  <a:pt x="183223" y="-3474"/>
                  <a:pt x="256854" y="1663"/>
                </a:cubicBezTo>
                <a:cubicBezTo>
                  <a:pt x="330485" y="6800"/>
                  <a:pt x="386137" y="24780"/>
                  <a:pt x="441789" y="42760"/>
                </a:cubicBezTo>
              </a:path>
            </a:pathLst>
          </a:custGeom>
          <a:noFill/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2463F4-6E22-05F5-9114-A0B0BBFDCFEE}"/>
              </a:ext>
            </a:extLst>
          </p:cNvPr>
          <p:cNvSpPr txBox="1"/>
          <p:nvPr/>
        </p:nvSpPr>
        <p:spPr>
          <a:xfrm>
            <a:off x="3290960" y="4796843"/>
            <a:ext cx="13151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/>
              <a:t>Forbedring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02305A-860F-9E2A-BFEF-24E62B8372AE}"/>
              </a:ext>
            </a:extLst>
          </p:cNvPr>
          <p:cNvSpPr txBox="1"/>
          <p:nvPr/>
        </p:nvSpPr>
        <p:spPr>
          <a:xfrm>
            <a:off x="9450514" y="4841606"/>
            <a:ext cx="150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/>
              <a:t>Utfall / opplevelse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B6E0F1D-7699-7187-03E5-AF871930D249}"/>
              </a:ext>
            </a:extLst>
          </p:cNvPr>
          <p:cNvSpPr/>
          <p:nvPr/>
        </p:nvSpPr>
        <p:spPr>
          <a:xfrm rot="6571101">
            <a:off x="9925928" y="5157783"/>
            <a:ext cx="240679" cy="45719"/>
          </a:xfrm>
          <a:custGeom>
            <a:avLst/>
            <a:gdLst>
              <a:gd name="csX0" fmla="*/ 0 w 441789"/>
              <a:gd name="csY0" fmla="*/ 11937 h 42760"/>
              <a:gd name="csX1" fmla="*/ 256854 w 441789"/>
              <a:gd name="csY1" fmla="*/ 1663 h 42760"/>
              <a:gd name="csX2" fmla="*/ 441789 w 441789"/>
              <a:gd name="csY2" fmla="*/ 42760 h 42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1789" h="42760">
                <a:moveTo>
                  <a:pt x="0" y="11937"/>
                </a:moveTo>
                <a:cubicBezTo>
                  <a:pt x="91611" y="4231"/>
                  <a:pt x="183223" y="-3474"/>
                  <a:pt x="256854" y="1663"/>
                </a:cubicBezTo>
                <a:cubicBezTo>
                  <a:pt x="330485" y="6800"/>
                  <a:pt x="386137" y="24780"/>
                  <a:pt x="441789" y="42760"/>
                </a:cubicBezTo>
              </a:path>
            </a:pathLst>
          </a:custGeom>
          <a:noFill/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43154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2DCD2-D393-272E-7AAE-364FCBECE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l: femkant 37">
            <a:extLst>
              <a:ext uri="{FF2B5EF4-FFF2-40B4-BE49-F238E27FC236}">
                <a16:creationId xmlns:a16="http://schemas.microsoft.com/office/drawing/2014/main" id="{D72F7AF0-EBA0-AFA2-DB7E-BA7381E469D2}"/>
              </a:ext>
            </a:extLst>
          </p:cNvPr>
          <p:cNvSpPr/>
          <p:nvPr/>
        </p:nvSpPr>
        <p:spPr>
          <a:xfrm flipH="1">
            <a:off x="3463851" y="1863321"/>
            <a:ext cx="1343433" cy="447347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" name="Pil: femkant 36">
            <a:extLst>
              <a:ext uri="{FF2B5EF4-FFF2-40B4-BE49-F238E27FC236}">
                <a16:creationId xmlns:a16="http://schemas.microsoft.com/office/drawing/2014/main" id="{A21F2E4F-5391-3B2D-05FE-A54B26D14202}"/>
              </a:ext>
            </a:extLst>
          </p:cNvPr>
          <p:cNvSpPr/>
          <p:nvPr/>
        </p:nvSpPr>
        <p:spPr>
          <a:xfrm>
            <a:off x="8145791" y="4917603"/>
            <a:ext cx="1521224" cy="1393597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" name="Rektangel 24">
            <a:extLst>
              <a:ext uri="{FF2B5EF4-FFF2-40B4-BE49-F238E27FC236}">
                <a16:creationId xmlns:a16="http://schemas.microsoft.com/office/drawing/2014/main" id="{8A5E2462-3280-3695-2916-E3B6315C50A4}"/>
              </a:ext>
            </a:extLst>
          </p:cNvPr>
          <p:cNvSpPr/>
          <p:nvPr/>
        </p:nvSpPr>
        <p:spPr>
          <a:xfrm>
            <a:off x="4247105" y="4892012"/>
            <a:ext cx="4339088" cy="14447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39AE0607-2A52-5AE7-8C16-D3A8B976A7ED}"/>
              </a:ext>
            </a:extLst>
          </p:cNvPr>
          <p:cNvSpPr/>
          <p:nvPr/>
        </p:nvSpPr>
        <p:spPr>
          <a:xfrm>
            <a:off x="4247105" y="4319931"/>
            <a:ext cx="4339088" cy="57208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3BAAA5CD-3A41-992B-42B4-E7073E62E51D}"/>
              </a:ext>
            </a:extLst>
          </p:cNvPr>
          <p:cNvSpPr/>
          <p:nvPr/>
        </p:nvSpPr>
        <p:spPr>
          <a:xfrm>
            <a:off x="4247105" y="1837780"/>
            <a:ext cx="4339088" cy="24817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B1568D-4655-BDBD-5A32-12271D0CC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2</a:t>
            </a:fld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4606DA-84C0-B44E-0E3D-E200D86EF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20713"/>
            <a:ext cx="11163297" cy="1044575"/>
          </a:xfrm>
        </p:spPr>
        <p:txBody>
          <a:bodyPr>
            <a:normAutofit fontScale="90000"/>
          </a:bodyPr>
          <a:lstStyle/>
          <a:p>
            <a:r>
              <a:rPr lang="nb-NO" dirty="0"/>
              <a:t>Innføre digital førstelinje med </a:t>
            </a:r>
            <a:r>
              <a:rPr lang="nb-NO"/>
              <a:t>klart </a:t>
            </a:r>
            <a:r>
              <a:rPr lang="nb-NO" dirty="0"/>
              <a:t>ansvar for forskjellige type tjenester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E82C6C8-BAB4-AE73-5D53-78981ABFAF2C}"/>
              </a:ext>
            </a:extLst>
          </p:cNvPr>
          <p:cNvSpPr/>
          <p:nvPr/>
        </p:nvSpPr>
        <p:spPr>
          <a:xfrm>
            <a:off x="4529111" y="4397336"/>
            <a:ext cx="3775076" cy="367866"/>
          </a:xfrm>
          <a:prstGeom prst="roundRect">
            <a:avLst>
              <a:gd name="adj" fmla="val 392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400">
                <a:solidFill>
                  <a:schemeClr val="tx1"/>
                </a:solidFill>
              </a:rPr>
              <a:t>Selvhjelpsapper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25CEE0F-1402-FD6E-295C-09B0EB997971}"/>
              </a:ext>
            </a:extLst>
          </p:cNvPr>
          <p:cNvSpPr/>
          <p:nvPr/>
        </p:nvSpPr>
        <p:spPr>
          <a:xfrm>
            <a:off x="4544673" y="5008836"/>
            <a:ext cx="3775076" cy="347463"/>
          </a:xfrm>
          <a:prstGeom prst="roundRect">
            <a:avLst>
              <a:gd name="adj" fmla="val 392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400" dirty="0">
                <a:solidFill>
                  <a:schemeClr val="tx1"/>
                </a:solidFill>
              </a:rPr>
              <a:t>Nettlege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FE8CF57-055B-3862-986B-301B48246FAB}"/>
              </a:ext>
            </a:extLst>
          </p:cNvPr>
          <p:cNvSpPr/>
          <p:nvPr/>
        </p:nvSpPr>
        <p:spPr>
          <a:xfrm>
            <a:off x="4544673" y="2438949"/>
            <a:ext cx="3775076" cy="367866"/>
          </a:xfrm>
          <a:prstGeom prst="roundRect">
            <a:avLst>
              <a:gd name="adj" fmla="val 392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400">
                <a:solidFill>
                  <a:schemeClr val="tx1"/>
                </a:solidFill>
              </a:rPr>
              <a:t>Offentlig KI-tjeneste for målrettede helseråd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F2AD86F-2FDC-BE33-553A-B6DCA23F3D65}"/>
              </a:ext>
            </a:extLst>
          </p:cNvPr>
          <p:cNvSpPr/>
          <p:nvPr/>
        </p:nvSpPr>
        <p:spPr>
          <a:xfrm>
            <a:off x="4544673" y="2908166"/>
            <a:ext cx="3775076" cy="367866"/>
          </a:xfrm>
          <a:prstGeom prst="roundRect">
            <a:avLst>
              <a:gd name="adj" fmla="val 392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400">
                <a:solidFill>
                  <a:schemeClr val="tx1"/>
                </a:solidFill>
              </a:rPr>
              <a:t>Veiviser-funksjoner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90B59D9-4848-25D8-5815-FD01A7971700}"/>
              </a:ext>
            </a:extLst>
          </p:cNvPr>
          <p:cNvSpPr/>
          <p:nvPr/>
        </p:nvSpPr>
        <p:spPr>
          <a:xfrm>
            <a:off x="4544673" y="3359915"/>
            <a:ext cx="3775076" cy="367866"/>
          </a:xfrm>
          <a:prstGeom prst="roundRect">
            <a:avLst>
              <a:gd name="adj" fmla="val 392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400" dirty="0">
                <a:solidFill>
                  <a:schemeClr val="tx1"/>
                </a:solidFill>
              </a:rPr>
              <a:t>Automatiserte helsetjenester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08B2AC6-1101-9E42-B529-107C25AA0294}"/>
              </a:ext>
            </a:extLst>
          </p:cNvPr>
          <p:cNvSpPr/>
          <p:nvPr/>
        </p:nvSpPr>
        <p:spPr>
          <a:xfrm>
            <a:off x="4544673" y="3820296"/>
            <a:ext cx="3775076" cy="367866"/>
          </a:xfrm>
          <a:prstGeom prst="roundRect">
            <a:avLst>
              <a:gd name="adj" fmla="val 392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400">
                <a:solidFill>
                  <a:schemeClr val="tx1"/>
                </a:solidFill>
              </a:rPr>
              <a:t>Digital tvilling/helsearkiv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FA08D21-AEB7-4F37-7207-7F6373E90346}"/>
              </a:ext>
            </a:extLst>
          </p:cNvPr>
          <p:cNvSpPr/>
          <p:nvPr/>
        </p:nvSpPr>
        <p:spPr>
          <a:xfrm flipH="1">
            <a:off x="695325" y="2583843"/>
            <a:ext cx="862951" cy="865898"/>
          </a:xfrm>
          <a:prstGeom prst="roundRect">
            <a:avLst>
              <a:gd name="adj" fmla="val 50000"/>
            </a:avLst>
          </a:prstGeom>
          <a:blipFill>
            <a:blip r:embed="rId3"/>
            <a:stretch>
              <a:fillRect/>
            </a:stretch>
          </a:blipFill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D6C236D-6A2F-0EA9-C094-2B60CFFF460F}"/>
              </a:ext>
            </a:extLst>
          </p:cNvPr>
          <p:cNvSpPr/>
          <p:nvPr/>
        </p:nvSpPr>
        <p:spPr>
          <a:xfrm flipH="1">
            <a:off x="695324" y="5065955"/>
            <a:ext cx="862951" cy="865898"/>
          </a:xfrm>
          <a:prstGeom prst="roundRect">
            <a:avLst>
              <a:gd name="adj" fmla="val 50000"/>
            </a:avLst>
          </a:prstGeom>
          <a:blipFill>
            <a:blip r:embed="rId4"/>
            <a:stretch>
              <a:fillRect/>
            </a:stretch>
          </a:blipFill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E175925-759C-2045-4A8E-A5ACEBB0E525}"/>
              </a:ext>
            </a:extLst>
          </p:cNvPr>
          <p:cNvSpPr/>
          <p:nvPr/>
        </p:nvSpPr>
        <p:spPr>
          <a:xfrm flipH="1">
            <a:off x="1713293" y="3149354"/>
            <a:ext cx="862951" cy="865898"/>
          </a:xfrm>
          <a:prstGeom prst="roundRect">
            <a:avLst>
              <a:gd name="adj" fmla="val 50000"/>
            </a:avLst>
          </a:prstGeom>
          <a:blipFill>
            <a:blip r:embed="rId5"/>
            <a:stretch>
              <a:fillRect/>
            </a:stretch>
          </a:blipFill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2C23B65-97A3-6970-9094-0B8CD8493316}"/>
              </a:ext>
            </a:extLst>
          </p:cNvPr>
          <p:cNvSpPr/>
          <p:nvPr/>
        </p:nvSpPr>
        <p:spPr>
          <a:xfrm flipH="1">
            <a:off x="1713292" y="4405246"/>
            <a:ext cx="862951" cy="865898"/>
          </a:xfrm>
          <a:prstGeom prst="roundRect">
            <a:avLst>
              <a:gd name="adj" fmla="val 50000"/>
            </a:avLst>
          </a:prstGeom>
          <a:blipFill>
            <a:blip r:embed="rId6"/>
            <a:stretch>
              <a:fillRect/>
            </a:stretch>
          </a:blipFill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9820D76-0AC3-9553-473C-1D093549654C}"/>
              </a:ext>
            </a:extLst>
          </p:cNvPr>
          <p:cNvSpPr/>
          <p:nvPr/>
        </p:nvSpPr>
        <p:spPr>
          <a:xfrm flipH="1">
            <a:off x="695326" y="3800300"/>
            <a:ext cx="862951" cy="865898"/>
          </a:xfrm>
          <a:prstGeom prst="roundRect">
            <a:avLst>
              <a:gd name="adj" fmla="val 50000"/>
            </a:avLst>
          </a:prstGeom>
          <a:blipFill>
            <a:blip r:embed="rId7"/>
            <a:stretch>
              <a:fillRect/>
            </a:stretch>
          </a:blipFill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1F7FC94-EBF2-0CC4-F13D-383F7E1CB945}"/>
              </a:ext>
            </a:extLst>
          </p:cNvPr>
          <p:cNvSpPr/>
          <p:nvPr/>
        </p:nvSpPr>
        <p:spPr>
          <a:xfrm>
            <a:off x="2816290" y="2921940"/>
            <a:ext cx="1011796" cy="2555658"/>
          </a:xfrm>
          <a:prstGeom prst="roundRect">
            <a:avLst>
              <a:gd name="adj" fmla="val 392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400">
                <a:solidFill>
                  <a:schemeClr val="tx1"/>
                </a:solidFill>
              </a:rPr>
              <a:t>Digital førstelinje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470A72C-CA8E-EDB6-AB3E-C22DEE31E08D}"/>
              </a:ext>
            </a:extLst>
          </p:cNvPr>
          <p:cNvSpPr/>
          <p:nvPr/>
        </p:nvSpPr>
        <p:spPr>
          <a:xfrm>
            <a:off x="9429324" y="4964724"/>
            <a:ext cx="1618220" cy="591822"/>
          </a:xfrm>
          <a:prstGeom prst="roundRect">
            <a:avLst>
              <a:gd name="adj" fmla="val 392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>
                <a:solidFill>
                  <a:schemeClr val="tx1"/>
                </a:solidFill>
              </a:rPr>
              <a:t>Primær-</a:t>
            </a:r>
            <a:endParaRPr lang="nb-NO" sz="1400" dirty="0">
              <a:solidFill>
                <a:schemeClr val="tx1"/>
              </a:solidFill>
            </a:endParaRPr>
          </a:p>
          <a:p>
            <a:pPr algn="ctr"/>
            <a:r>
              <a:rPr lang="nb-NO" sz="1400" dirty="0">
                <a:solidFill>
                  <a:schemeClr val="tx1"/>
                </a:solidFill>
              </a:rPr>
              <a:t>helsetjenesten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290875B-1266-34FD-7754-AD4CC09DA04F}"/>
              </a:ext>
            </a:extLst>
          </p:cNvPr>
          <p:cNvSpPr/>
          <p:nvPr/>
        </p:nvSpPr>
        <p:spPr>
          <a:xfrm>
            <a:off x="9429324" y="5731534"/>
            <a:ext cx="1618220" cy="605257"/>
          </a:xfrm>
          <a:prstGeom prst="roundRect">
            <a:avLst>
              <a:gd name="adj" fmla="val 392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 dirty="0">
                <a:solidFill>
                  <a:schemeClr val="tx1"/>
                </a:solidFill>
              </a:rPr>
              <a:t>Spesialist-</a:t>
            </a:r>
          </a:p>
          <a:p>
            <a:pPr algn="ctr"/>
            <a:r>
              <a:rPr lang="nb-NO" sz="1400" dirty="0">
                <a:solidFill>
                  <a:schemeClr val="tx1"/>
                </a:solidFill>
              </a:rPr>
              <a:t>helsetjenesten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CA9133D8-9D1A-27DF-A2C1-3819DDB75F3B}"/>
              </a:ext>
            </a:extLst>
          </p:cNvPr>
          <p:cNvSpPr/>
          <p:nvPr/>
        </p:nvSpPr>
        <p:spPr>
          <a:xfrm>
            <a:off x="2063337" y="4187530"/>
            <a:ext cx="752953" cy="45719"/>
          </a:xfrm>
          <a:custGeom>
            <a:avLst/>
            <a:gdLst>
              <a:gd name="csX0" fmla="*/ 0 w 441789"/>
              <a:gd name="csY0" fmla="*/ 11937 h 42760"/>
              <a:gd name="csX1" fmla="*/ 256854 w 441789"/>
              <a:gd name="csY1" fmla="*/ 1663 h 42760"/>
              <a:gd name="csX2" fmla="*/ 441789 w 441789"/>
              <a:gd name="csY2" fmla="*/ 42760 h 42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1789" h="42760">
                <a:moveTo>
                  <a:pt x="0" y="11937"/>
                </a:moveTo>
                <a:cubicBezTo>
                  <a:pt x="91611" y="4231"/>
                  <a:pt x="183223" y="-3474"/>
                  <a:pt x="256854" y="1663"/>
                </a:cubicBezTo>
                <a:cubicBezTo>
                  <a:pt x="330485" y="6800"/>
                  <a:pt x="386137" y="24780"/>
                  <a:pt x="441789" y="42760"/>
                </a:cubicBezTo>
              </a:path>
            </a:pathLst>
          </a:custGeom>
          <a:noFill/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ACADE3A2-1E0E-4817-E09C-AA422C253279}"/>
              </a:ext>
            </a:extLst>
          </p:cNvPr>
          <p:cNvSpPr/>
          <p:nvPr/>
        </p:nvSpPr>
        <p:spPr>
          <a:xfrm flipV="1">
            <a:off x="3868418" y="4125775"/>
            <a:ext cx="362455" cy="45719"/>
          </a:xfrm>
          <a:custGeom>
            <a:avLst/>
            <a:gdLst>
              <a:gd name="csX0" fmla="*/ 0 w 441789"/>
              <a:gd name="csY0" fmla="*/ 11937 h 42760"/>
              <a:gd name="csX1" fmla="*/ 256854 w 441789"/>
              <a:gd name="csY1" fmla="*/ 1663 h 42760"/>
              <a:gd name="csX2" fmla="*/ 441789 w 441789"/>
              <a:gd name="csY2" fmla="*/ 42760 h 42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1789" h="42760">
                <a:moveTo>
                  <a:pt x="0" y="11937"/>
                </a:moveTo>
                <a:cubicBezTo>
                  <a:pt x="91611" y="4231"/>
                  <a:pt x="183223" y="-3474"/>
                  <a:pt x="256854" y="1663"/>
                </a:cubicBezTo>
                <a:cubicBezTo>
                  <a:pt x="330485" y="6800"/>
                  <a:pt x="386137" y="24780"/>
                  <a:pt x="441789" y="42760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1D41E89C-3803-3E59-1D22-A525382F42F3}"/>
              </a:ext>
            </a:extLst>
          </p:cNvPr>
          <p:cNvSpPr/>
          <p:nvPr/>
        </p:nvSpPr>
        <p:spPr>
          <a:xfrm>
            <a:off x="4544673" y="1969945"/>
            <a:ext cx="3775076" cy="367866"/>
          </a:xfrm>
          <a:prstGeom prst="roundRect">
            <a:avLst>
              <a:gd name="adj" fmla="val 392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400" dirty="0">
                <a:solidFill>
                  <a:schemeClr val="tx1"/>
                </a:solidFill>
              </a:rPr>
              <a:t>Kvalitetssikret helseinformasjon</a:t>
            </a:r>
          </a:p>
        </p:txBody>
      </p:sp>
      <p:sp>
        <p:nvSpPr>
          <p:cNvPr id="26" name="Rektangel 25">
            <a:extLst>
              <a:ext uri="{FF2B5EF4-FFF2-40B4-BE49-F238E27FC236}">
                <a16:creationId xmlns:a16="http://schemas.microsoft.com/office/drawing/2014/main" id="{10866DD6-DB53-88C1-B33C-FE56AF804872}"/>
              </a:ext>
            </a:extLst>
          </p:cNvPr>
          <p:cNvSpPr/>
          <p:nvPr/>
        </p:nvSpPr>
        <p:spPr>
          <a:xfrm>
            <a:off x="9053862" y="1877798"/>
            <a:ext cx="257452" cy="2485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" name="Rektangel 26">
            <a:extLst>
              <a:ext uri="{FF2B5EF4-FFF2-40B4-BE49-F238E27FC236}">
                <a16:creationId xmlns:a16="http://schemas.microsoft.com/office/drawing/2014/main" id="{9E2D02F0-61D9-50C8-B278-958A84CF870E}"/>
              </a:ext>
            </a:extLst>
          </p:cNvPr>
          <p:cNvSpPr/>
          <p:nvPr/>
        </p:nvSpPr>
        <p:spPr>
          <a:xfrm>
            <a:off x="9053862" y="2333491"/>
            <a:ext cx="257452" cy="2485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" name="TekstSylinder 28">
            <a:extLst>
              <a:ext uri="{FF2B5EF4-FFF2-40B4-BE49-F238E27FC236}">
                <a16:creationId xmlns:a16="http://schemas.microsoft.com/office/drawing/2014/main" id="{5F84C1AC-CBD8-E3D2-80C6-8940FDF36620}"/>
              </a:ext>
            </a:extLst>
          </p:cNvPr>
          <p:cNvSpPr txBox="1"/>
          <p:nvPr/>
        </p:nvSpPr>
        <p:spPr>
          <a:xfrm flipH="1">
            <a:off x="9470576" y="1941705"/>
            <a:ext cx="30276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b-NO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Nye nasjonale digitale tjenester</a:t>
            </a:r>
            <a:endParaRPr lang="nb-NO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TekstSylinder 29">
            <a:extLst>
              <a:ext uri="{FF2B5EF4-FFF2-40B4-BE49-F238E27FC236}">
                <a16:creationId xmlns:a16="http://schemas.microsoft.com/office/drawing/2014/main" id="{9CC72F2C-2EA7-77BA-9BC4-BE29C437B224}"/>
              </a:ext>
            </a:extLst>
          </p:cNvPr>
          <p:cNvSpPr txBox="1"/>
          <p:nvPr/>
        </p:nvSpPr>
        <p:spPr>
          <a:xfrm rot="10800000" flipV="1">
            <a:off x="9492130" y="2319499"/>
            <a:ext cx="202351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b-NO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Leverandører/produsenter (godkjenningsordning</a:t>
            </a:r>
            <a:r>
              <a:rPr lang="nb-NO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endParaRPr lang="nb-NO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Rektangel 31">
            <a:extLst>
              <a:ext uri="{FF2B5EF4-FFF2-40B4-BE49-F238E27FC236}">
                <a16:creationId xmlns:a16="http://schemas.microsoft.com/office/drawing/2014/main" id="{822A0408-A37C-E56D-D71D-BF6A0DA487CC}"/>
              </a:ext>
            </a:extLst>
          </p:cNvPr>
          <p:cNvSpPr/>
          <p:nvPr/>
        </p:nvSpPr>
        <p:spPr>
          <a:xfrm>
            <a:off x="9053862" y="2806692"/>
            <a:ext cx="257452" cy="2485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" name="TekstSylinder 32">
            <a:extLst>
              <a:ext uri="{FF2B5EF4-FFF2-40B4-BE49-F238E27FC236}">
                <a16:creationId xmlns:a16="http://schemas.microsoft.com/office/drawing/2014/main" id="{2B82BE77-42CA-F6E3-5FE2-9DBD092B380E}"/>
              </a:ext>
            </a:extLst>
          </p:cNvPr>
          <p:cNvSpPr txBox="1"/>
          <p:nvPr/>
        </p:nvSpPr>
        <p:spPr>
          <a:xfrm rot="10800000" flipV="1">
            <a:off x="9492130" y="2891986"/>
            <a:ext cx="2322005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b-NO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Digitale tjenester som inngang til </a:t>
            </a:r>
            <a:r>
              <a:rPr lang="nb-NO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primær- </a:t>
            </a:r>
            <a:r>
              <a:rPr lang="nb-NO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og </a:t>
            </a:r>
            <a:r>
              <a:rPr lang="nb-NO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spesialist-helsetjenester </a:t>
            </a:r>
            <a:r>
              <a:rPr lang="nb-NO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(premissgiver og godkjenningsrolle</a:t>
            </a:r>
            <a:r>
              <a:rPr lang="nb-NO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endParaRPr lang="nb-NO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5" name="Rounded Rectangle 5">
            <a:extLst>
              <a:ext uri="{FF2B5EF4-FFF2-40B4-BE49-F238E27FC236}">
                <a16:creationId xmlns:a16="http://schemas.microsoft.com/office/drawing/2014/main" id="{C4B560A4-E4C6-282A-2A8B-0A940075E43C}"/>
              </a:ext>
            </a:extLst>
          </p:cNvPr>
          <p:cNvSpPr/>
          <p:nvPr/>
        </p:nvSpPr>
        <p:spPr>
          <a:xfrm>
            <a:off x="4544673" y="5435866"/>
            <a:ext cx="3775076" cy="347463"/>
          </a:xfrm>
          <a:prstGeom prst="roundRect">
            <a:avLst>
              <a:gd name="adj" fmla="val 392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400" dirty="0">
                <a:solidFill>
                  <a:schemeClr val="tx1"/>
                </a:solidFill>
              </a:rPr>
              <a:t>Integrerte </a:t>
            </a:r>
            <a:r>
              <a:rPr lang="nb-NO" sz="1400" dirty="0" err="1">
                <a:solidFill>
                  <a:schemeClr val="tx1"/>
                </a:solidFill>
              </a:rPr>
              <a:t>digi</a:t>
            </a:r>
            <a:r>
              <a:rPr lang="nb-NO" sz="1400" dirty="0">
                <a:solidFill>
                  <a:schemeClr val="tx1"/>
                </a:solidFill>
              </a:rPr>
              <a:t>-fysiske tjenester</a:t>
            </a:r>
          </a:p>
        </p:txBody>
      </p:sp>
      <p:sp>
        <p:nvSpPr>
          <p:cNvPr id="36" name="Rounded Rectangle 5">
            <a:extLst>
              <a:ext uri="{FF2B5EF4-FFF2-40B4-BE49-F238E27FC236}">
                <a16:creationId xmlns:a16="http://schemas.microsoft.com/office/drawing/2014/main" id="{A9E2166D-C11E-3967-ED1E-73C894B638D6}"/>
              </a:ext>
            </a:extLst>
          </p:cNvPr>
          <p:cNvSpPr/>
          <p:nvPr/>
        </p:nvSpPr>
        <p:spPr>
          <a:xfrm>
            <a:off x="4529111" y="5855380"/>
            <a:ext cx="3775076" cy="347463"/>
          </a:xfrm>
          <a:prstGeom prst="roundRect">
            <a:avLst>
              <a:gd name="adj" fmla="val 392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400" dirty="0">
                <a:solidFill>
                  <a:schemeClr val="tx1"/>
                </a:solidFill>
              </a:rPr>
              <a:t>Automatiserte spesialisthelsetjenester</a:t>
            </a:r>
          </a:p>
        </p:txBody>
      </p:sp>
    </p:spTree>
    <p:extLst>
      <p:ext uri="{BB962C8B-B14F-4D97-AF65-F5344CB8AC3E}">
        <p14:creationId xmlns:p14="http://schemas.microsoft.com/office/powerpoint/2010/main" val="9495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25" grpId="0" animBg="1"/>
      <p:bldP spid="24" grpId="0" animBg="1"/>
      <p:bldP spid="17" grpId="0" animBg="1"/>
      <p:bldP spid="26" grpId="0" animBg="1"/>
      <p:bldP spid="27" grpId="0" animBg="1"/>
      <p:bldP spid="29" grpId="0"/>
      <p:bldP spid="30" grpId="0"/>
      <p:bldP spid="32" grpId="0" animBg="1"/>
      <p:bldP spid="33" grpId="0"/>
    </p:bldLst>
  </p:timing>
</p:sld>
</file>

<file path=ppt/theme/theme1.xml><?xml version="1.0" encoding="utf-8"?>
<a:theme xmlns:a="http://schemas.openxmlformats.org/drawingml/2006/main" name="1_Helsedir 2024">
  <a:themeElements>
    <a:clrScheme name="Hdir-2024">
      <a:dk1>
        <a:srgbClr val="202020"/>
      </a:dk1>
      <a:lt1>
        <a:srgbClr val="FFFFFF"/>
      </a:lt1>
      <a:dk2>
        <a:srgbClr val="504F4F"/>
      </a:dk2>
      <a:lt2>
        <a:srgbClr val="F0F5FF"/>
      </a:lt2>
      <a:accent1>
        <a:srgbClr val="025069"/>
      </a:accent1>
      <a:accent2>
        <a:srgbClr val="037FA2"/>
      </a:accent2>
      <a:accent3>
        <a:srgbClr val="0069E7"/>
      </a:accent3>
      <a:accent4>
        <a:srgbClr val="7C145C"/>
      </a:accent4>
      <a:accent5>
        <a:srgbClr val="366558"/>
      </a:accent5>
      <a:accent6>
        <a:srgbClr val="94DBC9"/>
      </a:accent6>
      <a:hlink>
        <a:srgbClr val="0069E7"/>
      </a:hlink>
      <a:folHlink>
        <a:srgbClr val="0069E7"/>
      </a:folHlink>
    </a:clrScheme>
    <a:fontScheme name="Test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200" dirty="0" err="1" smtClean="0">
            <a:latin typeface="Roboto Medium" panose="02000000000000000000" pitchFamily="2" charset="0"/>
            <a:ea typeface="Roboto Medium" panose="02000000000000000000" pitchFamily="2" charset="0"/>
            <a:cs typeface="Roboto Medium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mal_V3" id="{9C13EBD8-02F8-48DA-A756-081EBD89FEC8}" vid="{1A349A19-C227-47A4-B392-4302C8FF2AD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b159786-64bc-4c97-92a7-633cb27d5dd0">
      <Terms xmlns="http://schemas.microsoft.com/office/infopath/2007/PartnerControls"/>
    </lcf76f155ced4ddcb4097134ff3c332f>
    <TaxCatchAll xmlns="e181c2a6-6e7a-45a7-958d-d3c0c907c1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EE38C89459BF43AAE1CC340C284385" ma:contentTypeVersion="32" ma:contentTypeDescription="Create a new document." ma:contentTypeScope="" ma:versionID="36f44d95718d0760902ba3e409270d65">
  <xsd:schema xmlns:xsd="http://www.w3.org/2001/XMLSchema" xmlns:xs="http://www.w3.org/2001/XMLSchema" xmlns:p="http://schemas.microsoft.com/office/2006/metadata/properties" xmlns:ns2="3b159786-64bc-4c97-92a7-633cb27d5dd0" xmlns:ns3="e181c2a6-6e7a-45a7-958d-d3c0c907c1ed" targetNamespace="http://schemas.microsoft.com/office/2006/metadata/properties" ma:root="true" ma:fieldsID="4779e0b9c091b66473a4c49a67d88ac0" ns2:_="" ns3:_="">
    <xsd:import namespace="3b159786-64bc-4c97-92a7-633cb27d5dd0"/>
    <xsd:import namespace="e181c2a6-6e7a-45a7-958d-d3c0c907c1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159786-64bc-4c97-92a7-633cb27d5d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Bildemerkelapper" ma:readOnly="false" ma:fieldId="{5cf76f15-5ced-4ddc-b409-7134ff3c332f}" ma:taxonomyMulti="true" ma:sspId="44bd27e2-62de-4af1-85f7-19d8bf2bfc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81c2a6-6e7a-45a7-958d-d3c0c907c1e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03581792-6dad-487e-bf2c-14be2880fca4}" ma:internalName="TaxCatchAll" ma:showField="CatchAllData" ma:web="e181c2a6-6e7a-45a7-958d-d3c0c907c1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8" ma:displayName="Innholds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DE6656-7D40-49FF-8310-EF271454CE17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e181c2a6-6e7a-45a7-958d-d3c0c907c1ed"/>
    <ds:schemaRef ds:uri="3b159786-64bc-4c97-92a7-633cb27d5dd0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58C70EF-4204-48CC-9705-9783C12D26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83B2E4-4320-43FA-88D6-F3B77A15F67E}">
  <ds:schemaRefs>
    <ds:schemaRef ds:uri="3b159786-64bc-4c97-92a7-633cb27d5dd0"/>
    <ds:schemaRef ds:uri="e181c2a6-6e7a-45a7-958d-d3c0c907c1e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6ba1bd5c-750f-4ad6-aba3-0f95585bc21f}" enabled="0" method="" siteId="{6ba1bd5c-750f-4ad6-aba3-0f95585bc21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Powerpointmal_Helsedirektoratet</Template>
  <TotalTime>13</TotalTime>
  <Words>101</Words>
  <Application>Microsoft Office PowerPoint</Application>
  <PresentationFormat>Widescreen</PresentationFormat>
  <Paragraphs>31</Paragraphs>
  <Slides>2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6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</vt:i4>
      </vt:variant>
    </vt:vector>
  </HeadingPairs>
  <TitlesOfParts>
    <vt:vector size="9" baseType="lpstr">
      <vt:lpstr>Arial</vt:lpstr>
      <vt:lpstr>Calibri</vt:lpstr>
      <vt:lpstr>Roboto</vt:lpstr>
      <vt:lpstr>Roboto Black</vt:lpstr>
      <vt:lpstr>Roboto Light</vt:lpstr>
      <vt:lpstr>Roboto Medium</vt:lpstr>
      <vt:lpstr>1_Helsedir 2024</vt:lpstr>
      <vt:lpstr>Fremtidens helsetjeneste vil bestå av nye tjenester hvor innbygger kan gjøre mer selv</vt:lpstr>
      <vt:lpstr>Innføre digital førstelinje med klart ansvar for forskjellige type tjenester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 Greibrokk</dc:creator>
  <cp:lastModifiedBy>Thomas Tveit Rosenlund</cp:lastModifiedBy>
  <cp:revision>3</cp:revision>
  <cp:lastPrinted>2026-03-16T08:45:05Z</cp:lastPrinted>
  <dcterms:created xsi:type="dcterms:W3CDTF">2025-06-25T08:27:13Z</dcterms:created>
  <dcterms:modified xsi:type="dcterms:W3CDTF">2026-08-31T06:14:24Z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0x0101001FEE38C89459BF43AAE1CC340C284385</vt:lpwstr>
  </property>
  <property fmtid="{D5CDD505-2E9C-101B-9397-08002B2CF9AE}" pid="3" name="MediaServiceImageTags">
    <vt:lpwstr/>
  </property>
</Properties>
</file>