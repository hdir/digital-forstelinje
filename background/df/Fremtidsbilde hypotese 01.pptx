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147483425" r:id="rId6"/>
    <p:sldId id="2147483427" r:id="rId7"/>
    <p:sldId id="2147483428" r:id="rId8"/>
    <p:sldId id="2147483429" r:id="rId9"/>
    <p:sldId id="2147483430" r:id="rId10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326"/>
    <a:srgbClr val="E04002"/>
    <a:srgbClr val="FD6326"/>
    <a:srgbClr val="E00002"/>
    <a:srgbClr val="FF911C"/>
    <a:srgbClr val="FF9102"/>
    <a:srgbClr val="049ECD"/>
    <a:srgbClr val="047FA4"/>
    <a:srgbClr val="BA218B"/>
    <a:srgbClr val="B91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29" autoAdjust="0"/>
    <p:restoredTop sz="89266"/>
  </p:normalViewPr>
  <p:slideViewPr>
    <p:cSldViewPr snapToGrid="0" showGuides="1">
      <p:cViewPr>
        <p:scale>
          <a:sx n="66" d="100"/>
          <a:sy n="66" d="100"/>
        </p:scale>
        <p:origin x="1675" y="394"/>
      </p:cViewPr>
      <p:guideLst>
        <p:guide orient="horz" pos="2160"/>
        <p:guide pos="3840"/>
      </p:guideLst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EAB89-3ED6-BA48-8C18-5986538B881E}" type="datetimeFigureOut">
              <a:rPr lang="nb-NO" smtClean="0"/>
              <a:t>31.08.2026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19993-DBB6-024A-9B4C-46A2DD21F3A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52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DC969169-90CA-C642-D2A3-D4EF78CE2D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6794" y="621653"/>
            <a:ext cx="307934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7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" name="Bilde 8" descr="Et bilde som inneholder tekst, Font, Grafikk, skjermbilde&#10;&#10;Automatisk generert beskrivelse">
            <a:extLst>
              <a:ext uri="{FF2B5EF4-FFF2-40B4-BE49-F238E27FC236}">
                <a16:creationId xmlns:a16="http://schemas.microsoft.com/office/drawing/2014/main" id="{8A6BD20E-C579-09E4-083E-63F1E1E8A2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45321" y="899833"/>
            <a:ext cx="3110817" cy="5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4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loggoblå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nb-NO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2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blå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nb-NO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7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9C6D-9AA3-ECC5-BE51-257DC63A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800175"/>
            <a:ext cx="8642350" cy="133191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nb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C91581-FE29-F032-CCCD-7C6348DBF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2411307"/>
            <a:ext cx="8640763" cy="3897418"/>
          </a:xfrm>
        </p:spPr>
        <p:txBody>
          <a:bodyPr/>
          <a:lstStyle>
            <a:lvl1pPr marL="358775" indent="-358775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630000" indent="-268288">
              <a:tabLst/>
              <a:defRPr>
                <a:solidFill>
                  <a:schemeClr val="bg1"/>
                </a:solidFill>
              </a:defRPr>
            </a:lvl2pPr>
            <a:lvl3pPr marL="809625" indent="-180000">
              <a:tabLst/>
              <a:defRPr>
                <a:solidFill>
                  <a:schemeClr val="bg1"/>
                </a:solidFill>
              </a:defRPr>
            </a:lvl3pPr>
            <a:lvl4pPr marL="990000" indent="-219075">
              <a:tabLst/>
              <a:defRPr>
                <a:solidFill>
                  <a:schemeClr val="bg1"/>
                </a:solidFill>
              </a:defRPr>
            </a:lvl4pPr>
            <a:lvl5pPr marL="1150938" indent="-171450"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D46BA44-B440-B0C0-1AC8-DC4C8D44DFB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5B06F-5D80-114F-9B38-484F4E16F0D6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CFF1E00-5554-050E-B64A-2E3595FEBE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7530460A-A795-D6BC-3981-1863D774BC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4435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41C96E-2BF6-AF6C-0EF5-CAF5C8D5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037C34B-6364-16E2-9BAA-2E5306EE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6E22738-BBB1-88C1-8BB8-57837106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71668-A7BC-5A45-89C3-825413BD1F56}" type="datetime1">
              <a:rPr lang="nb-NO" smtClean="0"/>
              <a:t>31.08.2026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C9E62E1-B28E-C63B-E538-B35DE229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B1AE72-5249-ACBA-C070-ABBF2FAB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0591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8086" y="1952625"/>
            <a:ext cx="5388588" cy="4356100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67A3-CA73-F14C-AA34-FC4FBAC4E753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3BE26CA4-BA98-4DD0-885C-3F64413B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471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EBD3AE-2C7F-0498-08B2-B1BA038B5B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063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5" y="2725785"/>
            <a:ext cx="5400675" cy="3582939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8086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8086" y="2725783"/>
            <a:ext cx="5388587" cy="3582939"/>
          </a:xfrm>
        </p:spPr>
        <p:txBody>
          <a:bodyPr rIns="360000"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1BD188C6-C475-EEBB-19DD-1E7E57D4E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13F20-F216-974D-9AFC-AE3F62853751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12" name="Plassholder for bunntekst 11">
            <a:extLst>
              <a:ext uri="{FF2B5EF4-FFF2-40B4-BE49-F238E27FC236}">
                <a16:creationId xmlns:a16="http://schemas.microsoft.com/office/drawing/2014/main" id="{8B686F46-7932-9981-47F3-786BC2BA5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DC554CA7-09B4-83A3-E57E-5EA3B1CA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0C27FCCD-9AA0-D4E6-92AB-AA7FC231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924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6" y="1952626"/>
            <a:ext cx="3602034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C2F6EA-3AD4-B992-0E79-28A87C8644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09446" y="1952626"/>
            <a:ext cx="3585195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8860" y="1952626"/>
            <a:ext cx="3597814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D462-C7BE-3C4A-A1C5-82F71756E724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C23E695F-0ABB-E096-637C-2ECCB48B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1928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89007-EE6A-CEE5-F2FA-FE9335F6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4"/>
            <a:ext cx="3607541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6" y="2682240"/>
            <a:ext cx="3607541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85EAB28-73FB-15AD-8FFA-850775457B5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14016" y="1952624"/>
            <a:ext cx="3593358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14B490-DEDA-F33A-F9B2-0AE24945E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14016" y="2682240"/>
            <a:ext cx="3582210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21554" y="1952624"/>
            <a:ext cx="3575120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21553" y="2682240"/>
            <a:ext cx="3575120" cy="3626483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13" name="Plassholder for dato 12">
            <a:extLst>
              <a:ext uri="{FF2B5EF4-FFF2-40B4-BE49-F238E27FC236}">
                <a16:creationId xmlns:a16="http://schemas.microsoft.com/office/drawing/2014/main" id="{ADE11266-A348-59EE-BC97-CD0F4FEA4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21F62F-3B54-0E42-8AFB-EBC08EA5D715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14" name="Plassholder for bunntekst 13">
            <a:extLst>
              <a:ext uri="{FF2B5EF4-FFF2-40B4-BE49-F238E27FC236}">
                <a16:creationId xmlns:a16="http://schemas.microsoft.com/office/drawing/2014/main" id="{6C8C9645-CF8F-B4DC-A308-EC68F383E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6" name="Plassholder for lysbildenummer 15">
            <a:extLst>
              <a:ext uri="{FF2B5EF4-FFF2-40B4-BE49-F238E27FC236}">
                <a16:creationId xmlns:a16="http://schemas.microsoft.com/office/drawing/2014/main" id="{200AE5F9-1C2E-04BF-1A0A-2C503246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ED3C7BFD-1BF8-0A49-36D6-509010B0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2159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C740-A630-4442-9977-AD2D7D793CB7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19988604-B493-3FD9-9195-963708D4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0214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39969859-2B5A-915B-2E94-B776F4AE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ACAA-5F39-9249-80B2-917BDC718A2F}" type="datetime1">
              <a:rPr lang="nb-NO" smtClean="0"/>
              <a:t>31.08.2026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AA734D31-9FD8-A723-F585-288B71A9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583BFF6-52FA-DCA5-B37A-98E69BBD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0301DB44-273E-E161-2A2B-03149E3AE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29160"/>
            <a:ext cx="6005593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 dirty="0"/>
              <a:t>Sett inn tittel for skjermopplesing</a:t>
            </a:r>
          </a:p>
        </p:txBody>
      </p:sp>
    </p:spTree>
    <p:extLst>
      <p:ext uri="{BB962C8B-B14F-4D97-AF65-F5344CB8AC3E}">
        <p14:creationId xmlns:p14="http://schemas.microsoft.com/office/powerpoint/2010/main" val="664575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, maks bred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11A416E-05A1-B14E-C8B2-BA495489239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95325" y="1665288"/>
            <a:ext cx="11161713" cy="464343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330F-AE98-F741-8C9A-632A2F134DCC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6581D95-703C-10A9-C08A-8C056215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2313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 figur eller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of Rectangle 10">
            <a:extLst>
              <a:ext uri="{FF2B5EF4-FFF2-40B4-BE49-F238E27FC236}">
                <a16:creationId xmlns:a16="http://schemas.microsoft.com/office/drawing/2014/main" id="{DCCE9751-D797-3F9B-CB73-AAB947911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9A3756F7-8588-54F7-F8C5-16861441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8" name="Tittel 7">
            <a:extLst>
              <a:ext uri="{FF2B5EF4-FFF2-40B4-BE49-F238E27FC236}">
                <a16:creationId xmlns:a16="http://schemas.microsoft.com/office/drawing/2014/main" id="{8A524A5A-3E5A-5BD3-F408-48835865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97888"/>
            <a:ext cx="5689626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 dirty="0"/>
              <a:t>Sett inn tittel for skjermopplesing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6EEAD077-2144-0091-7319-C3583D2D32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2D02-6F39-5C40-A77B-F462C85A0336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80339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0D62D2AC-F204-5052-A344-37748CC265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579B6-F561-5B40-8A35-E8542372936F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6C509A6-A612-4A8B-066D-F3C084F7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5400674" cy="1044575"/>
          </a:xfrm>
        </p:spPr>
        <p:txBody>
          <a:bodyPr rIns="360000"/>
          <a:lstStyle/>
          <a:p>
            <a:r>
              <a:rPr lang="en-GB"/>
              <a:t>Click to edit Master title style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3C3D7062-D60D-2C06-81F5-884FB615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23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ABFB-A43B-39B6-5C39-C65603B5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5400675" cy="1044575"/>
          </a:xfrm>
        </p:spPr>
        <p:txBody>
          <a:bodyPr rIns="36000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15" name="Plassholder for bilde 14">
            <a:extLst>
              <a:ext uri="{FF2B5EF4-FFF2-40B4-BE49-F238E27FC236}">
                <a16:creationId xmlns:a16="http://schemas.microsoft.com/office/drawing/2014/main" id="{BD8F9827-3EF3-3D0A-255F-528EB364E4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6D16768-56C7-1340-B787-3ABF6BC6BB4B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13" name="Grafikk 12">
            <a:extLst>
              <a:ext uri="{FF2B5EF4-FFF2-40B4-BE49-F238E27FC236}">
                <a16:creationId xmlns:a16="http://schemas.microsoft.com/office/drawing/2014/main" id="{98A08ECE-605C-49AF-4ABC-1011EFDEF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85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6601-90BC-5A4F-A072-34692FF42E51}" type="datetime1">
              <a:rPr lang="nb-NO" smtClean="0"/>
              <a:t>31.08.2026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/>
          <a:p>
            <a:r>
              <a:rPr lang="en-GB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21478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E919-AB03-974F-884F-D75D3847DBE4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20687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liten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uide">
            <a:extLst>
              <a:ext uri="{FF2B5EF4-FFF2-40B4-BE49-F238E27FC236}">
                <a16:creationId xmlns:a16="http://schemas.microsoft.com/office/drawing/2014/main" id="{699A2402-4AD5-7C27-A860-2798A9BEE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13919" y="549275"/>
            <a:ext cx="129359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nb-N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NB. Bruk hjelpelinjer!</a:t>
            </a:r>
          </a:p>
        </p:txBody>
      </p:sp>
      <p:sp>
        <p:nvSpPr>
          <p:cNvPr id="17" name="Bilde">
            <a:extLst>
              <a:ext uri="{FF2B5EF4-FFF2-40B4-BE49-F238E27FC236}">
                <a16:creationId xmlns:a16="http://schemas.microsoft.com/office/drawing/2014/main" id="{564D2DC8-0601-F2BC-389F-6617CEB91D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6858000 h 6858000"/>
              <a:gd name="connsiteX3" fmla="*/ 0 w 121920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12192001" y="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nb-NO"/>
          </a:p>
        </p:txBody>
      </p:sp>
      <p:sp>
        <p:nvSpPr>
          <p:cNvPr id="15" name="Tekst">
            <a:extLst>
              <a:ext uri="{FF2B5EF4-FFF2-40B4-BE49-F238E27FC236}">
                <a16:creationId xmlns:a16="http://schemas.microsoft.com/office/drawing/2014/main" id="{80619626-4239-8766-8457-9BD604F81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6588" y="620713"/>
            <a:ext cx="3240000" cy="3095625"/>
          </a:xfrm>
          <a:prstGeom prst="round1Rect">
            <a:avLst>
              <a:gd name="adj" fmla="val 13232"/>
            </a:avLst>
          </a:prstGeom>
          <a:solidFill>
            <a:schemeClr val="bg1"/>
          </a:solidFill>
        </p:spPr>
        <p:txBody>
          <a:bodyPr wrap="square" lIns="288000" tIns="720000" rIns="288000" bIns="288000">
            <a:noAutofit/>
          </a:bodyPr>
          <a:lstStyle>
            <a:lvl1pPr marL="0" indent="-270000">
              <a:lnSpc>
                <a:spcPct val="120000"/>
              </a:lnSpc>
              <a:spcBef>
                <a:spcPts val="500"/>
              </a:spcBef>
              <a:buNone/>
              <a:defRPr sz="1800"/>
            </a:lvl1pPr>
            <a:lvl2pPr marL="0" indent="-2700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9" name="Graphic">
            <a:extLst>
              <a:ext uri="{FF2B5EF4-FFF2-40B4-BE49-F238E27FC236}">
                <a16:creationId xmlns:a16="http://schemas.microsoft.com/office/drawing/2014/main" id="{52675333-694D-0924-A96E-4336D2083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69111" y="927407"/>
            <a:ext cx="273600" cy="9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r">
              <a:buNone/>
              <a:defRPr sz="100">
                <a:solidFill>
                  <a:schemeClr val="accent1"/>
                </a:solidFill>
              </a:defRPr>
            </a:lvl1pPr>
            <a:lvl2pPr marL="275400" indent="0">
              <a:buNone/>
              <a:defRPr/>
            </a:lvl2pPr>
            <a:lvl3pPr marL="491400" indent="0">
              <a:buNone/>
              <a:defRPr/>
            </a:lvl3pPr>
            <a:lvl4pPr marL="707400" indent="0">
              <a:buNone/>
              <a:defRPr/>
            </a:lvl4pPr>
            <a:lvl5pPr marL="9234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79B3-FEAD-1D43-94FA-C03DF327079F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82426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stor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F352013-EA5A-9DF7-ECA6-48E28A9F3F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1" cy="6858000"/>
          </a:xfrm>
          <a:solidFill>
            <a:schemeClr val="bg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nb-NO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191E82-2792-D04C-A995-820EA7D913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1836" y="620712"/>
            <a:ext cx="4664751" cy="4059661"/>
          </a:xfrm>
          <a:prstGeom prst="round1Rect">
            <a:avLst>
              <a:gd name="adj" fmla="val 17649"/>
            </a:avLst>
          </a:prstGeom>
          <a:solidFill>
            <a:schemeClr val="bg1"/>
          </a:solidFill>
        </p:spPr>
        <p:txBody>
          <a:bodyPr lIns="360000" tIns="1080000" rIns="288000" bIns="288000">
            <a:norm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  <a:lvl2pPr marL="618300" indent="-342900">
              <a:buFont typeface="Arial" panose="020B0604020202020204" pitchFamily="34" charset="0"/>
              <a:buChar char="•"/>
              <a:defRPr sz="18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9859A-F13F-644E-5B05-EDEDB1F1C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282388" y="858777"/>
            <a:ext cx="12786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nb-N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NB. Bruk hjelpelinjer!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06F01F7-3339-FA99-42DD-C2DF02D3F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13346" y="1064315"/>
            <a:ext cx="1782000" cy="237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500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p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ktangel med ett avrundet hjørne 26">
            <a:extLst>
              <a:ext uri="{FF2B5EF4-FFF2-40B4-BE49-F238E27FC236}">
                <a16:creationId xmlns:a16="http://schemas.microsoft.com/office/drawing/2014/main" id="{57F1973D-87A7-31BA-5017-C2C9E3CA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" name="Rektangel med ett avrundet hjørne 29">
            <a:extLst>
              <a:ext uri="{FF2B5EF4-FFF2-40B4-BE49-F238E27FC236}">
                <a16:creationId xmlns:a16="http://schemas.microsoft.com/office/drawing/2014/main" id="{0C3E80C0-C4B1-95B1-AA3D-B059C4A96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Rektangel med ett avrundet hjørne 32">
            <a:extLst>
              <a:ext uri="{FF2B5EF4-FFF2-40B4-BE49-F238E27FC236}">
                <a16:creationId xmlns:a16="http://schemas.microsoft.com/office/drawing/2014/main" id="{110BC27A-6FBD-D397-7A5E-0841EB5C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Rektangel med ett avrundet hjørne 35">
            <a:extLst>
              <a:ext uri="{FF2B5EF4-FFF2-40B4-BE49-F238E27FC236}">
                <a16:creationId xmlns:a16="http://schemas.microsoft.com/office/drawing/2014/main" id="{A6E8226A-22D1-57C5-927C-D2689E38F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ktangel med ett avrundet hjørne 23">
            <a:extLst>
              <a:ext uri="{FF2B5EF4-FFF2-40B4-BE49-F238E27FC236}">
                <a16:creationId xmlns:a16="http://schemas.microsoft.com/office/drawing/2014/main" id="{A46BDC32-E732-2035-0CC8-37F80F217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1455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Rektangel med ett avrundet hjørne 1">
            <a:extLst>
              <a:ext uri="{FF2B5EF4-FFF2-40B4-BE49-F238E27FC236}">
                <a16:creationId xmlns:a16="http://schemas.microsoft.com/office/drawing/2014/main" id="{7B97D543-633A-6552-C816-8F0F13409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F0FAF3CA-699C-8696-9D6C-E2384ED0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16" name="Plassholder for tekst 15">
            <a:extLst>
              <a:ext uri="{FF2B5EF4-FFF2-40B4-BE49-F238E27FC236}">
                <a16:creationId xmlns:a16="http://schemas.microsoft.com/office/drawing/2014/main" id="{F29D663A-5C67-AD4F-41B3-AC2A4A9995CE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9532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832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9" name="Plassholder for tekst 15">
            <a:extLst>
              <a:ext uri="{FF2B5EF4-FFF2-40B4-BE49-F238E27FC236}">
                <a16:creationId xmlns:a16="http://schemas.microsoft.com/office/drawing/2014/main" id="{997E195F-8DE9-F78D-8F18-A6E182FDC6B5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695324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38324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5" name="Plassholder for tekst 15">
            <a:extLst>
              <a:ext uri="{FF2B5EF4-FFF2-40B4-BE49-F238E27FC236}">
                <a16:creationId xmlns:a16="http://schemas.microsoft.com/office/drawing/2014/main" id="{DBA1CFA1-FA6C-8F96-D8D8-2D9DC7FF6FC5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95324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38324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6" name="Plassholder for tekst 15">
            <a:extLst>
              <a:ext uri="{FF2B5EF4-FFF2-40B4-BE49-F238E27FC236}">
                <a16:creationId xmlns:a16="http://schemas.microsoft.com/office/drawing/2014/main" id="{EE1DA772-A280-4F5A-BD2C-39DD6DF4E94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657158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458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2" name="Plassholder for tekst 15">
            <a:extLst>
              <a:ext uri="{FF2B5EF4-FFF2-40B4-BE49-F238E27FC236}">
                <a16:creationId xmlns:a16="http://schemas.microsoft.com/office/drawing/2014/main" id="{8A437FEB-21C6-134C-5E1C-7E929033D20D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6578673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21673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8" name="Plassholder for tekst 15">
            <a:extLst>
              <a:ext uri="{FF2B5EF4-FFF2-40B4-BE49-F238E27FC236}">
                <a16:creationId xmlns:a16="http://schemas.microsoft.com/office/drawing/2014/main" id="{0D7A17EC-6223-04C9-0860-2C38C438F067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6578673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821673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7A3C-63FD-524A-8E9D-1DF035FE335C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83187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>
            <a:extLst>
              <a:ext uri="{FF2B5EF4-FFF2-40B4-BE49-F238E27FC236}">
                <a16:creationId xmlns:a16="http://schemas.microsoft.com/office/drawing/2014/main" id="{E08352A1-88C0-5E8C-2138-B508E1591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92149" y="1857478"/>
            <a:ext cx="10807001" cy="4463270"/>
            <a:chOff x="692149" y="1857478"/>
            <a:chExt cx="10807001" cy="4463270"/>
          </a:xfrm>
        </p:grpSpPr>
        <p:cxnSp>
          <p:nvCxnSpPr>
            <p:cNvPr id="6" name="Rett linje 63">
              <a:extLst>
                <a:ext uri="{FF2B5EF4-FFF2-40B4-BE49-F238E27FC236}">
                  <a16:creationId xmlns:a16="http://schemas.microsoft.com/office/drawing/2014/main" id="{7C5DB0C2-D68A-F349-7331-C973E6728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096000" y="1867548"/>
              <a:ext cx="0" cy="445320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Rett linje 63">
              <a:extLst>
                <a:ext uri="{FF2B5EF4-FFF2-40B4-BE49-F238E27FC236}">
                  <a16:creationId xmlns:a16="http://schemas.microsoft.com/office/drawing/2014/main" id="{22EFB831-8E31-F061-973A-1649A97C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149" y="1857478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tt linje 63">
              <a:extLst>
                <a:ext uri="{FF2B5EF4-FFF2-40B4-BE49-F238E27FC236}">
                  <a16:creationId xmlns:a16="http://schemas.microsoft.com/office/drawing/2014/main" id="{03A730AD-F9D3-5EAC-C952-815ACC25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3341311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63">
              <a:extLst>
                <a:ext uri="{FF2B5EF4-FFF2-40B4-BE49-F238E27FC236}">
                  <a16:creationId xmlns:a16="http://schemas.microsoft.com/office/drawing/2014/main" id="{97D6C36A-4CD6-DEEE-921E-F5E16C14D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4825144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060ED2AE-977F-6449-9141-8BD81063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21" name="Plassholder for bilde 20">
            <a:extLst>
              <a:ext uri="{FF2B5EF4-FFF2-40B4-BE49-F238E27FC236}">
                <a16:creationId xmlns:a16="http://schemas.microsoft.com/office/drawing/2014/main" id="{A82E6AC2-6F25-A2A3-6CB4-36C7C2FB5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92149" y="1994638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8288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2" name="Plassholder for bilde 20">
            <a:extLst>
              <a:ext uri="{FF2B5EF4-FFF2-40B4-BE49-F238E27FC236}">
                <a16:creationId xmlns:a16="http://schemas.microsoft.com/office/drawing/2014/main" id="{E880C591-49FA-A4B7-1314-2F8ED4F3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692149" y="3478471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828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3" name="Plassholder for bilde 20">
            <a:extLst>
              <a:ext uri="{FF2B5EF4-FFF2-40B4-BE49-F238E27FC236}">
                <a16:creationId xmlns:a16="http://schemas.microsoft.com/office/drawing/2014/main" id="{42793EC4-7310-EB6F-1920-C87E7CFE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92149" y="4962304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5828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9" name="Plassholder for bilde 20">
            <a:extLst>
              <a:ext uri="{FF2B5EF4-FFF2-40B4-BE49-F238E27FC236}">
                <a16:creationId xmlns:a16="http://schemas.microsoft.com/office/drawing/2014/main" id="{7F97DC73-3E9C-05A1-343B-19AF324DF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348670" y="1994638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717339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40" name="Plassholder for bilde 20">
            <a:extLst>
              <a:ext uri="{FF2B5EF4-FFF2-40B4-BE49-F238E27FC236}">
                <a16:creationId xmlns:a16="http://schemas.microsoft.com/office/drawing/2014/main" id="{E967C2DD-340A-97E2-5EA9-A2BE5BCBB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348670" y="3478471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72442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41" name="Plassholder for bilde 20">
            <a:extLst>
              <a:ext uri="{FF2B5EF4-FFF2-40B4-BE49-F238E27FC236}">
                <a16:creationId xmlns:a16="http://schemas.microsoft.com/office/drawing/2014/main" id="{2BE01866-2F5C-245D-5511-23E6F2F6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348670" y="4962304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72442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09D-BC36-3D41-810D-4218B27E140A}" type="datetime1">
              <a:rPr lang="nb-NO" smtClean="0"/>
              <a:t>31.08.2026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516957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Logo Helsedirektoratet">
            <a:extLst>
              <a:ext uri="{FF2B5EF4-FFF2-40B4-BE49-F238E27FC236}">
                <a16:creationId xmlns:a16="http://schemas.microsoft.com/office/drawing/2014/main" id="{8E204606-017A-D877-E2B6-991EDDD9F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9343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22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k 2">
            <a:extLst>
              <a:ext uri="{FF2B5EF4-FFF2-40B4-BE49-F238E27FC236}">
                <a16:creationId xmlns:a16="http://schemas.microsoft.com/office/drawing/2014/main" id="{4EDEB077-60A6-8E65-2A18-5B3E147187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8000" cy="51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4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of Rectangle 10">
            <a:extLst>
              <a:ext uri="{FF2B5EF4-FFF2-40B4-BE49-F238E27FC236}">
                <a16:creationId xmlns:a16="http://schemas.microsoft.com/office/drawing/2014/main" id="{077A94D6-BECE-8552-A3E8-6334DF9FE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F321F365-1F59-1477-7A2C-4F42DECC6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377E-9BCD-9C71-7D7B-E651B21F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9721850" cy="10445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0BB8E-72F1-6DCB-E97A-20087088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5"/>
            <a:ext cx="9721850" cy="41632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EE82-67D0-8500-8B50-44E3E88AC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75725" y="6460962"/>
            <a:ext cx="144145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615CD096-5B77-454C-A5B6-D006E652560D}" type="datetime1">
              <a:rPr lang="nb-NO" smtClean="0"/>
              <a:pPr/>
              <a:t>31.08.2026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9AC1F-52BA-7486-B3F5-084EE7EC2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688" y="6460962"/>
            <a:ext cx="720090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D9266-D53E-DABB-1517-5C48E7C9A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174" y="6460962"/>
            <a:ext cx="1441449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1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285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27" r:id="rId2"/>
    <p:sldLayoutId id="2147483686" r:id="rId3"/>
    <p:sldLayoutId id="2147483723" r:id="rId4"/>
    <p:sldLayoutId id="2147483690" r:id="rId5"/>
    <p:sldLayoutId id="2147483722" r:id="rId6"/>
    <p:sldLayoutId id="2147483652" r:id="rId7"/>
    <p:sldLayoutId id="2147483653" r:id="rId8"/>
    <p:sldLayoutId id="2147483662" r:id="rId9"/>
    <p:sldLayoutId id="2147483663" r:id="rId10"/>
    <p:sldLayoutId id="2147483693" r:id="rId11"/>
    <p:sldLayoutId id="2147483726" r:id="rId12"/>
    <p:sldLayoutId id="2147483694" r:id="rId13"/>
    <p:sldLayoutId id="2147483696" r:id="rId14"/>
    <p:sldLayoutId id="2147483664" r:id="rId15"/>
    <p:sldLayoutId id="2147483673" r:id="rId16"/>
    <p:sldLayoutId id="2147483668" r:id="rId17"/>
    <p:sldLayoutId id="2147483724" r:id="rId18"/>
    <p:sldLayoutId id="2147483675" r:id="rId19"/>
    <p:sldLayoutId id="2147483676" r:id="rId20"/>
    <p:sldLayoutId id="2147483698" r:id="rId21"/>
    <p:sldLayoutId id="2147483699" r:id="rId22"/>
    <p:sldLayoutId id="2147483695" r:id="rId23"/>
    <p:sldLayoutId id="2147483725" r:id="rId2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504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20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93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152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1049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1572" userDrawn="1">
          <p15:clr>
            <a:srgbClr val="F26B43"/>
          </p15:clr>
        </p15:guide>
        <p15:guide id="8" pos="5654" userDrawn="1">
          <p15:clr>
            <a:srgbClr val="F26B43"/>
          </p15:clr>
        </p15:guide>
        <p15:guide id="9" pos="1118" userDrawn="1">
          <p15:clr>
            <a:srgbClr val="9FCC3B"/>
          </p15:clr>
        </p15:guide>
        <p15:guide id="10" pos="3386" userDrawn="1">
          <p15:clr>
            <a:srgbClr val="F26B43"/>
          </p15:clr>
        </p15:guide>
        <p15:guide id="11" pos="6562" userDrawn="1">
          <p15:clr>
            <a:srgbClr val="9FCC3B"/>
          </p15:clr>
        </p15:guide>
        <p15:guide id="12" pos="4747" userDrawn="1">
          <p15:clr>
            <a:srgbClr val="F26B43"/>
          </p15:clr>
        </p15:guide>
        <p15:guide id="13" pos="665" userDrawn="1">
          <p15:clr>
            <a:srgbClr val="F26B43"/>
          </p15:clr>
        </p15:guide>
        <p15:guide id="14" pos="6992" userDrawn="1">
          <p15:clr>
            <a:srgbClr val="F26B43"/>
          </p15:clr>
        </p15:guide>
        <p15:guide id="15" pos="6108" userDrawn="1">
          <p15:clr>
            <a:srgbClr val="F26B43"/>
          </p15:clr>
        </p15:guide>
        <p15:guide id="16" pos="5201" userDrawn="1">
          <p15:clr>
            <a:srgbClr val="F26B43"/>
          </p15:clr>
        </p15:guide>
        <p15:guide id="17" pos="4294" userDrawn="1">
          <p15:clr>
            <a:srgbClr val="F26B43"/>
          </p15:clr>
        </p15:guide>
        <p15:guide id="18" pos="2933" userDrawn="1">
          <p15:clr>
            <a:srgbClr val="F26B43"/>
          </p15:clr>
        </p15:guide>
        <p15:guide id="19" pos="2479" userDrawn="1">
          <p15:clr>
            <a:srgbClr val="F26B43"/>
          </p15:clr>
        </p15:guide>
        <p15:guide id="20" pos="2026" userDrawn="1">
          <p15:clr>
            <a:srgbClr val="F26B43"/>
          </p15:clr>
        </p15:guide>
        <p15:guide id="21" pos="438" userDrawn="1">
          <p15:clr>
            <a:srgbClr val="F26B43"/>
          </p15:clr>
        </p15:guide>
        <p15:guide id="22" pos="7242" userDrawn="1">
          <p15:clr>
            <a:srgbClr val="F26B43"/>
          </p15:clr>
        </p15:guide>
        <p15:guide id="23" orient="horz" pos="210" userDrawn="1">
          <p15:clr>
            <a:srgbClr val="F26B43"/>
          </p15:clr>
        </p15:guide>
        <p15:guide id="24" orient="horz" pos="4110" userDrawn="1">
          <p15:clr>
            <a:srgbClr val="F26B43"/>
          </p15:clr>
        </p15:guide>
        <p15:guide id="25" orient="horz" pos="1230" userDrawn="1">
          <p15:clr>
            <a:srgbClr val="F26B43"/>
          </p15:clr>
        </p15:guide>
        <p15:guide id="26" orient="horz" pos="3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F807F9-2F21-A9DB-AF65-B7AC31D6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Fremtidsbilde digital førstelinje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09855EA-F814-0AE5-C63F-6D97E1E696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22F3722-84EB-DA75-8CC8-5EDA693478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1793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FC359E8-2C10-D833-EB96-3E8CB713E495}"/>
              </a:ext>
            </a:extLst>
          </p:cNvPr>
          <p:cNvSpPr/>
          <p:nvPr/>
        </p:nvSpPr>
        <p:spPr>
          <a:xfrm>
            <a:off x="2502232" y="2485456"/>
            <a:ext cx="9574154" cy="2909717"/>
          </a:xfrm>
          <a:prstGeom prst="roundRect">
            <a:avLst>
              <a:gd name="adj" fmla="val 392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nb-NO" sz="1400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9CADCE-A320-FDE9-6170-8C09050F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10932613" cy="1422184"/>
          </a:xfrm>
        </p:spPr>
        <p:txBody>
          <a:bodyPr>
            <a:noAutofit/>
          </a:bodyPr>
          <a:lstStyle/>
          <a:p>
            <a:r>
              <a:rPr lang="nb-NO" sz="2800" dirty="0"/>
              <a:t>Fremtidens helsetjeneste vil bestå av mer sammenhengende forløp hvor innbygger gjør mer selv og helsepersonell bruker sin kompetanse der det trengs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CABB63-8A24-ECAE-7E79-AEEFE9C10238}"/>
              </a:ext>
            </a:extLst>
          </p:cNvPr>
          <p:cNvSpPr/>
          <p:nvPr/>
        </p:nvSpPr>
        <p:spPr>
          <a:xfrm>
            <a:off x="695324" y="2154529"/>
            <a:ext cx="1452719" cy="1457680"/>
          </a:xfrm>
          <a:prstGeom prst="roundRect">
            <a:avLst>
              <a:gd name="adj" fmla="val 50000"/>
            </a:avLst>
          </a:prstGeom>
          <a:blipFill>
            <a:blip r:embed="rId2"/>
            <a:stretch>
              <a:fillRect/>
            </a:stretch>
          </a:blip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385A862-A814-58D3-7C2D-2D3A76B6DCB7}"/>
              </a:ext>
            </a:extLst>
          </p:cNvPr>
          <p:cNvSpPr/>
          <p:nvPr/>
        </p:nvSpPr>
        <p:spPr>
          <a:xfrm>
            <a:off x="2639795" y="3657155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Forstå behov og symptomer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1CB93F8-DBE8-C5DC-167A-34E0433716AA}"/>
              </a:ext>
            </a:extLst>
          </p:cNvPr>
          <p:cNvSpPr/>
          <p:nvPr/>
        </p:nvSpPr>
        <p:spPr>
          <a:xfrm rot="1248323">
            <a:off x="2262028" y="3251183"/>
            <a:ext cx="441789" cy="42760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A8E38E-4754-D2F1-329D-CD5C3C4E8627}"/>
              </a:ext>
            </a:extLst>
          </p:cNvPr>
          <p:cNvSpPr/>
          <p:nvPr/>
        </p:nvSpPr>
        <p:spPr>
          <a:xfrm>
            <a:off x="4610830" y="3657155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Veiledning til rett tjeneste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26B80A3-272D-2869-385B-85E195A0B7C4}"/>
              </a:ext>
            </a:extLst>
          </p:cNvPr>
          <p:cNvSpPr/>
          <p:nvPr/>
        </p:nvSpPr>
        <p:spPr>
          <a:xfrm>
            <a:off x="6541826" y="3657155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Motta behandling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04E0C46-BC1A-3AEB-CDCF-684D6F094BB8}"/>
              </a:ext>
            </a:extLst>
          </p:cNvPr>
          <p:cNvSpPr/>
          <p:nvPr/>
        </p:nvSpPr>
        <p:spPr>
          <a:xfrm>
            <a:off x="8484102" y="3657154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Oppfølging og tilpassing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E6C60BF-AC4F-8BD9-E033-926E171ED48B}"/>
              </a:ext>
            </a:extLst>
          </p:cNvPr>
          <p:cNvSpPr/>
          <p:nvPr/>
        </p:nvSpPr>
        <p:spPr>
          <a:xfrm>
            <a:off x="10415098" y="3657154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Avslutte behandling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BFF306-66E8-0599-C953-7C60703466CE}"/>
              </a:ext>
            </a:extLst>
          </p:cNvPr>
          <p:cNvSpPr txBox="1"/>
          <p:nvPr/>
        </p:nvSpPr>
        <p:spPr>
          <a:xfrm>
            <a:off x="695324" y="3657154"/>
            <a:ext cx="1315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Innbygger og helsepersonell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9C8BC17-BDB3-00E3-AE10-EFFDF0860D72}"/>
              </a:ext>
            </a:extLst>
          </p:cNvPr>
          <p:cNvSpPr/>
          <p:nvPr/>
        </p:nvSpPr>
        <p:spPr>
          <a:xfrm flipH="1">
            <a:off x="585493" y="4228758"/>
            <a:ext cx="1562550" cy="1567886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79B41A9-F993-56AA-77D6-4653F4978900}"/>
              </a:ext>
            </a:extLst>
          </p:cNvPr>
          <p:cNvSpPr/>
          <p:nvPr/>
        </p:nvSpPr>
        <p:spPr>
          <a:xfrm rot="20351677" flipV="1">
            <a:off x="2268838" y="4858457"/>
            <a:ext cx="441789" cy="42760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195C5A-1FC2-6772-FE85-D7AF6F4F2500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4164198" y="3942957"/>
            <a:ext cx="446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C09A6DC-0C7B-DBFB-24B1-7535208198CC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6135233" y="3942957"/>
            <a:ext cx="40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D5BE0FB-E16A-137F-234B-B9D1FF2C9BC3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8066229" y="3942956"/>
            <a:ext cx="4178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7A2B9C5-EDE5-0F9D-71B2-8B371E35441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10008505" y="3942956"/>
            <a:ext cx="40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15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D11E-4E10-D024-9AEA-E63D962FA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F3B898B-1911-CFB7-CAB9-6B0A7593E685}"/>
              </a:ext>
            </a:extLst>
          </p:cNvPr>
          <p:cNvSpPr/>
          <p:nvPr/>
        </p:nvSpPr>
        <p:spPr>
          <a:xfrm>
            <a:off x="2053784" y="3714801"/>
            <a:ext cx="9574154" cy="1286077"/>
          </a:xfrm>
          <a:prstGeom prst="roundRect">
            <a:avLst>
              <a:gd name="adj" fmla="val 8135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nb-NO" sz="1400" dirty="0">
              <a:solidFill>
                <a:schemeClr val="tx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75E6288-F2D3-8B84-8F5C-94C7AC129F71}"/>
              </a:ext>
            </a:extLst>
          </p:cNvPr>
          <p:cNvSpPr/>
          <p:nvPr/>
        </p:nvSpPr>
        <p:spPr>
          <a:xfrm>
            <a:off x="2053784" y="2006816"/>
            <a:ext cx="9574154" cy="1422184"/>
          </a:xfrm>
          <a:prstGeom prst="roundRect">
            <a:avLst>
              <a:gd name="adj" fmla="val 813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nb-NO" sz="1400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FBB7B9-3493-B513-7044-7EEABE75E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10932613" cy="1422184"/>
          </a:xfrm>
        </p:spPr>
        <p:txBody>
          <a:bodyPr>
            <a:noAutofit/>
          </a:bodyPr>
          <a:lstStyle/>
          <a:p>
            <a:r>
              <a:rPr lang="nb-NO" sz="2800" dirty="0"/>
              <a:t>Digital førstelinje er limet av evner (kapabiliteter) som binder forløpet sammen på tvers av </a:t>
            </a:r>
            <a:r>
              <a:rPr lang="nb-NO" sz="2800" dirty="0" err="1"/>
              <a:t>organisasjonelle</a:t>
            </a:r>
            <a:r>
              <a:rPr lang="nb-NO" sz="2800" dirty="0"/>
              <a:t> og tekniske grenser.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ABC397C-8299-CF32-398E-6B70EAC624AA}"/>
              </a:ext>
            </a:extLst>
          </p:cNvPr>
          <p:cNvSpPr/>
          <p:nvPr/>
        </p:nvSpPr>
        <p:spPr>
          <a:xfrm>
            <a:off x="703002" y="1864671"/>
            <a:ext cx="813657" cy="816436"/>
          </a:xfrm>
          <a:prstGeom prst="roundRect">
            <a:avLst>
              <a:gd name="adj" fmla="val 50000"/>
            </a:avLst>
          </a:prstGeom>
          <a:blipFill>
            <a:blip r:embed="rId2"/>
            <a:stretch>
              <a:fillRect/>
            </a:stretch>
          </a:blip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2667ED-6BEF-0234-1992-EDB3EA715F8D}"/>
              </a:ext>
            </a:extLst>
          </p:cNvPr>
          <p:cNvSpPr/>
          <p:nvPr/>
        </p:nvSpPr>
        <p:spPr>
          <a:xfrm>
            <a:off x="2191347" y="2562944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Forstå behov og symptomer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E8542B8-CC09-7A97-F89E-7EA74DD65818}"/>
              </a:ext>
            </a:extLst>
          </p:cNvPr>
          <p:cNvSpPr/>
          <p:nvPr/>
        </p:nvSpPr>
        <p:spPr>
          <a:xfrm>
            <a:off x="1633448" y="2696528"/>
            <a:ext cx="441789" cy="42760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C7C6FD-4C77-2C3D-3892-2D18AADB6B4B}"/>
              </a:ext>
            </a:extLst>
          </p:cNvPr>
          <p:cNvSpPr/>
          <p:nvPr/>
        </p:nvSpPr>
        <p:spPr>
          <a:xfrm>
            <a:off x="4162382" y="2562944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Veiledning til rett tjeneste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A1E38AE-E2FF-3728-DA2B-EACEC781CC1C}"/>
              </a:ext>
            </a:extLst>
          </p:cNvPr>
          <p:cNvSpPr/>
          <p:nvPr/>
        </p:nvSpPr>
        <p:spPr>
          <a:xfrm>
            <a:off x="6093378" y="2562944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Motta behandling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FB4A018-EE81-887D-FCCC-8578DF696BCD}"/>
              </a:ext>
            </a:extLst>
          </p:cNvPr>
          <p:cNvSpPr/>
          <p:nvPr/>
        </p:nvSpPr>
        <p:spPr>
          <a:xfrm>
            <a:off x="8035654" y="2562943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Oppfølging og tilpassing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5EACB30-48A5-2124-8CDF-9BB42B764947}"/>
              </a:ext>
            </a:extLst>
          </p:cNvPr>
          <p:cNvSpPr/>
          <p:nvPr/>
        </p:nvSpPr>
        <p:spPr>
          <a:xfrm>
            <a:off x="9966650" y="2562943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Avslutte behandling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7DC377-549B-23A0-E1DF-7B3F5C60D8B5}"/>
              </a:ext>
            </a:extLst>
          </p:cNvPr>
          <p:cNvSpPr txBox="1"/>
          <p:nvPr/>
        </p:nvSpPr>
        <p:spPr>
          <a:xfrm>
            <a:off x="2122262" y="3778589"/>
            <a:ext cx="5223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</a:rPr>
              <a:t>Nasjonale førstelinjeevner som binder forløpet sammen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83285BC-000B-7AFE-182A-8B9A2306EA28}"/>
              </a:ext>
            </a:extLst>
          </p:cNvPr>
          <p:cNvSpPr/>
          <p:nvPr/>
        </p:nvSpPr>
        <p:spPr>
          <a:xfrm flipH="1">
            <a:off x="672245" y="2550839"/>
            <a:ext cx="875172" cy="878161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230F7F5-813E-0F77-5C4A-73558DB7211C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3715750" y="2848746"/>
            <a:ext cx="446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C68FADC-4DD3-9FEB-8DC1-98F4FC971115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5686785" y="2848746"/>
            <a:ext cx="40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6256C8B-993B-11AA-43AF-0FF1C2D66705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7617781" y="2848745"/>
            <a:ext cx="4178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B5A257-C1F8-B03E-798E-8EFA77307469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9560057" y="2848745"/>
            <a:ext cx="40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5E2F5B-9AF3-51E0-0A20-5A88E7B95D91}"/>
              </a:ext>
            </a:extLst>
          </p:cNvPr>
          <p:cNvSpPr/>
          <p:nvPr/>
        </p:nvSpPr>
        <p:spPr>
          <a:xfrm>
            <a:off x="2170820" y="4119383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Kartlegging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D2B483-0354-C6AD-2782-3D5662FA2CC9}"/>
              </a:ext>
            </a:extLst>
          </p:cNvPr>
          <p:cNvSpPr/>
          <p:nvPr/>
        </p:nvSpPr>
        <p:spPr>
          <a:xfrm>
            <a:off x="4815354" y="4119380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Veivisning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51E4A8-0162-4BBB-8694-33A2D8CE85B9}"/>
              </a:ext>
            </a:extLst>
          </p:cNvPr>
          <p:cNvSpPr/>
          <p:nvPr/>
        </p:nvSpPr>
        <p:spPr>
          <a:xfrm>
            <a:off x="3493087" y="4119380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Triagering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38550D-4FF8-339A-B8E1-AAB4A39C7F92}"/>
              </a:ext>
            </a:extLst>
          </p:cNvPr>
          <p:cNvSpPr/>
          <p:nvPr/>
        </p:nvSpPr>
        <p:spPr>
          <a:xfrm>
            <a:off x="6137621" y="4119379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Veiledning og behandling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65B5DCB-A37D-05C0-8AF0-1CB47F3F07A0}"/>
              </a:ext>
            </a:extLst>
          </p:cNvPr>
          <p:cNvSpPr/>
          <p:nvPr/>
        </p:nvSpPr>
        <p:spPr>
          <a:xfrm>
            <a:off x="7459888" y="4119378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Egen-rapportering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88EFF6-0137-A14D-BEAE-1968AA166E21}"/>
              </a:ext>
            </a:extLst>
          </p:cNvPr>
          <p:cNvSpPr/>
          <p:nvPr/>
        </p:nvSpPr>
        <p:spPr>
          <a:xfrm>
            <a:off x="8782155" y="4119377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Måling og evaluering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83B33B4-94A2-17F6-CDF6-479718A13092}"/>
              </a:ext>
            </a:extLst>
          </p:cNvPr>
          <p:cNvSpPr/>
          <p:nvPr/>
        </p:nvSpPr>
        <p:spPr>
          <a:xfrm>
            <a:off x="10104419" y="4119376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.......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6FB48F-B32F-7B5D-42C6-05F85EBFE94E}"/>
              </a:ext>
            </a:extLst>
          </p:cNvPr>
          <p:cNvSpPr txBox="1"/>
          <p:nvPr/>
        </p:nvSpPr>
        <p:spPr>
          <a:xfrm>
            <a:off x="2191347" y="2134390"/>
            <a:ext cx="43367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</a:rPr>
              <a:t>Sammenhengende forløp for innbygger og helsepersonell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CA5732-6CEA-2CF3-17CB-4642F38B1528}"/>
              </a:ext>
            </a:extLst>
          </p:cNvPr>
          <p:cNvCxnSpPr>
            <a:cxnSpLocks/>
            <a:stCxn id="15" idx="0"/>
            <a:endCxn id="31" idx="2"/>
          </p:cNvCxnSpPr>
          <p:nvPr/>
        </p:nvCxnSpPr>
        <p:spPr>
          <a:xfrm flipV="1">
            <a:off x="6840861" y="3429000"/>
            <a:ext cx="0" cy="285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568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56C3-EDF0-59A1-D4C9-2416F41C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616C58-C7DA-6EEE-7753-5439897653A9}"/>
              </a:ext>
            </a:extLst>
          </p:cNvPr>
          <p:cNvSpPr/>
          <p:nvPr/>
        </p:nvSpPr>
        <p:spPr>
          <a:xfrm>
            <a:off x="2053784" y="3714801"/>
            <a:ext cx="9574154" cy="1286077"/>
          </a:xfrm>
          <a:prstGeom prst="roundRect">
            <a:avLst>
              <a:gd name="adj" fmla="val 813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nb-NO" sz="1400" dirty="0">
              <a:solidFill>
                <a:schemeClr val="tx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F5991AF-4AEB-3F65-CED7-9B6AC30D59E5}"/>
              </a:ext>
            </a:extLst>
          </p:cNvPr>
          <p:cNvSpPr/>
          <p:nvPr/>
        </p:nvSpPr>
        <p:spPr>
          <a:xfrm>
            <a:off x="2053784" y="2006816"/>
            <a:ext cx="9574154" cy="1422184"/>
          </a:xfrm>
          <a:prstGeom prst="roundRect">
            <a:avLst>
              <a:gd name="adj" fmla="val 813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nb-NO" sz="1400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18E611-44B9-00F3-DC6B-E0AA5B64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10932613" cy="1422184"/>
          </a:xfrm>
        </p:spPr>
        <p:txBody>
          <a:bodyPr>
            <a:noAutofit/>
          </a:bodyPr>
          <a:lstStyle/>
          <a:p>
            <a:r>
              <a:rPr lang="nb-NO" sz="2400" dirty="0" err="1"/>
              <a:t>Helsedirektorates</a:t>
            </a:r>
            <a:r>
              <a:rPr lang="nb-NO" sz="2400" dirty="0"/>
              <a:t> rolle blir å </a:t>
            </a:r>
            <a:r>
              <a:rPr lang="nb-NO" sz="2400" dirty="0" err="1"/>
              <a:t>fasilitere</a:t>
            </a:r>
            <a:r>
              <a:rPr lang="nb-NO" sz="2400" dirty="0"/>
              <a:t> samhandling mellom helseaktørene rundt utvikling av nasjonale førstelinje-evner og rydde barrierene av veien slik at riktig tjeneste møter innbygger raskere og mer sammenhengende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25A7DF-4C26-BFA7-1781-89193D786EC2}"/>
              </a:ext>
            </a:extLst>
          </p:cNvPr>
          <p:cNvSpPr/>
          <p:nvPr/>
        </p:nvSpPr>
        <p:spPr>
          <a:xfrm>
            <a:off x="703002" y="1864671"/>
            <a:ext cx="813657" cy="816436"/>
          </a:xfrm>
          <a:prstGeom prst="roundRect">
            <a:avLst>
              <a:gd name="adj" fmla="val 50000"/>
            </a:avLst>
          </a:prstGeom>
          <a:blipFill>
            <a:blip r:embed="rId2"/>
            <a:stretch>
              <a:fillRect/>
            </a:stretch>
          </a:blip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D99EB41-44D7-3144-7B7C-658071319445}"/>
              </a:ext>
            </a:extLst>
          </p:cNvPr>
          <p:cNvSpPr/>
          <p:nvPr/>
        </p:nvSpPr>
        <p:spPr>
          <a:xfrm>
            <a:off x="2191347" y="2562944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Forstå behov og symptomer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62A3F09-C3C0-BEBE-DFE7-4AA8520ADD31}"/>
              </a:ext>
            </a:extLst>
          </p:cNvPr>
          <p:cNvSpPr/>
          <p:nvPr/>
        </p:nvSpPr>
        <p:spPr>
          <a:xfrm>
            <a:off x="1633448" y="2696528"/>
            <a:ext cx="441789" cy="42760"/>
          </a:xfrm>
          <a:custGeom>
            <a:avLst/>
            <a:gdLst>
              <a:gd name="csX0" fmla="*/ 0 w 441789"/>
              <a:gd name="csY0" fmla="*/ 11937 h 42760"/>
              <a:gd name="csX1" fmla="*/ 256854 w 441789"/>
              <a:gd name="csY1" fmla="*/ 1663 h 42760"/>
              <a:gd name="csX2" fmla="*/ 441789 w 441789"/>
              <a:gd name="csY2" fmla="*/ 42760 h 42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1789" h="42760">
                <a:moveTo>
                  <a:pt x="0" y="11937"/>
                </a:moveTo>
                <a:cubicBezTo>
                  <a:pt x="91611" y="4231"/>
                  <a:pt x="183223" y="-3474"/>
                  <a:pt x="256854" y="1663"/>
                </a:cubicBezTo>
                <a:cubicBezTo>
                  <a:pt x="330485" y="6800"/>
                  <a:pt x="386137" y="24780"/>
                  <a:pt x="441789" y="4276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BE91FA-B908-3A2E-6007-EB7B183DA5F4}"/>
              </a:ext>
            </a:extLst>
          </p:cNvPr>
          <p:cNvSpPr/>
          <p:nvPr/>
        </p:nvSpPr>
        <p:spPr>
          <a:xfrm>
            <a:off x="4162382" y="2562944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Veiledning til rett tjeneste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1E643D1-88CC-4A91-BAE8-E7C83A050AE6}"/>
              </a:ext>
            </a:extLst>
          </p:cNvPr>
          <p:cNvSpPr/>
          <p:nvPr/>
        </p:nvSpPr>
        <p:spPr>
          <a:xfrm>
            <a:off x="6093378" y="2562944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Motta behandling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B13AC57-3A94-C1C7-4745-50CA67185240}"/>
              </a:ext>
            </a:extLst>
          </p:cNvPr>
          <p:cNvSpPr/>
          <p:nvPr/>
        </p:nvSpPr>
        <p:spPr>
          <a:xfrm>
            <a:off x="8035654" y="2562943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Oppfølging og tilpassing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8312F92-60E9-DFAF-9F38-9D35F409EC84}"/>
              </a:ext>
            </a:extLst>
          </p:cNvPr>
          <p:cNvSpPr/>
          <p:nvPr/>
        </p:nvSpPr>
        <p:spPr>
          <a:xfrm>
            <a:off x="9966650" y="2562943"/>
            <a:ext cx="1524403" cy="5716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Avslutte behandling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72C4AC-86CC-6736-7813-06A21B201817}"/>
              </a:ext>
            </a:extLst>
          </p:cNvPr>
          <p:cNvSpPr txBox="1"/>
          <p:nvPr/>
        </p:nvSpPr>
        <p:spPr>
          <a:xfrm>
            <a:off x="2122262" y="3778589"/>
            <a:ext cx="5223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</a:rPr>
              <a:t>Nasjonale førstelinjeevner som binder forløpet sammen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2521463-FF36-F71D-F1BD-BA29AEBA32A5}"/>
              </a:ext>
            </a:extLst>
          </p:cNvPr>
          <p:cNvSpPr/>
          <p:nvPr/>
        </p:nvSpPr>
        <p:spPr>
          <a:xfrm flipH="1">
            <a:off x="672245" y="2550839"/>
            <a:ext cx="875172" cy="878161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A06E59-CC4F-6147-7115-62EA0B88EECA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3715750" y="2848746"/>
            <a:ext cx="446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BFC51C2-2439-41E5-D936-F145A7FFB994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5686785" y="2848746"/>
            <a:ext cx="40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BDC8942-B7A3-E58B-D042-69D193C263E9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7617781" y="2848745"/>
            <a:ext cx="4178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9D6873E-5087-355B-DA3E-0FBF1991B889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9560057" y="2848745"/>
            <a:ext cx="406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8D6BBC4-2FF3-C91A-7FE8-906B5E8BD742}"/>
              </a:ext>
            </a:extLst>
          </p:cNvPr>
          <p:cNvSpPr/>
          <p:nvPr/>
        </p:nvSpPr>
        <p:spPr>
          <a:xfrm>
            <a:off x="2170820" y="4119383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Kartlegging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7518BD5-E63E-0C14-A7BE-F5189C7664CB}"/>
              </a:ext>
            </a:extLst>
          </p:cNvPr>
          <p:cNvSpPr/>
          <p:nvPr/>
        </p:nvSpPr>
        <p:spPr>
          <a:xfrm>
            <a:off x="4815354" y="4119380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Veivisning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50B0AD-E298-4AA0-ED24-28F888D54B34}"/>
              </a:ext>
            </a:extLst>
          </p:cNvPr>
          <p:cNvSpPr/>
          <p:nvPr/>
        </p:nvSpPr>
        <p:spPr>
          <a:xfrm>
            <a:off x="3493087" y="4119380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Triagering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9E95B4-8DF7-75E8-28AF-1D8C6B7DC280}"/>
              </a:ext>
            </a:extLst>
          </p:cNvPr>
          <p:cNvSpPr/>
          <p:nvPr/>
        </p:nvSpPr>
        <p:spPr>
          <a:xfrm>
            <a:off x="6137621" y="4119379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Veiledning og behandling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FCBE84-E055-AA2C-452D-8D9C9E2C0098}"/>
              </a:ext>
            </a:extLst>
          </p:cNvPr>
          <p:cNvSpPr/>
          <p:nvPr/>
        </p:nvSpPr>
        <p:spPr>
          <a:xfrm>
            <a:off x="7459888" y="4119378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Egen-rapportering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776F29-44A6-09A1-B470-C2D14E64AB72}"/>
              </a:ext>
            </a:extLst>
          </p:cNvPr>
          <p:cNvSpPr/>
          <p:nvPr/>
        </p:nvSpPr>
        <p:spPr>
          <a:xfrm>
            <a:off x="8782155" y="4119377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Måling og evaluering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6FB946-3D0C-B6A9-9B46-DBACA9A12AF8}"/>
              </a:ext>
            </a:extLst>
          </p:cNvPr>
          <p:cNvSpPr/>
          <p:nvPr/>
        </p:nvSpPr>
        <p:spPr>
          <a:xfrm>
            <a:off x="10104419" y="4119376"/>
            <a:ext cx="1207811" cy="571603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.......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59B3E-721F-AF41-8E4F-52AA0CA1CC06}"/>
              </a:ext>
            </a:extLst>
          </p:cNvPr>
          <p:cNvSpPr txBox="1"/>
          <p:nvPr/>
        </p:nvSpPr>
        <p:spPr>
          <a:xfrm>
            <a:off x="2191347" y="2134390"/>
            <a:ext cx="43367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</a:rPr>
              <a:t>Sammenhengende forløp for innbygger og helsepersonell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A0A8B0-DA2D-F22D-70E1-7FC5578854DE}"/>
              </a:ext>
            </a:extLst>
          </p:cNvPr>
          <p:cNvCxnSpPr>
            <a:cxnSpLocks/>
            <a:stCxn id="15" idx="0"/>
            <a:endCxn id="31" idx="2"/>
          </p:cNvCxnSpPr>
          <p:nvPr/>
        </p:nvCxnSpPr>
        <p:spPr>
          <a:xfrm flipV="1">
            <a:off x="6840861" y="3429000"/>
            <a:ext cx="0" cy="285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F0C9126-6EB1-8F7C-B917-066A2DE5736A}"/>
              </a:ext>
            </a:extLst>
          </p:cNvPr>
          <p:cNvSpPr/>
          <p:nvPr/>
        </p:nvSpPr>
        <p:spPr>
          <a:xfrm>
            <a:off x="2053784" y="5286678"/>
            <a:ext cx="9574154" cy="950609"/>
          </a:xfrm>
          <a:prstGeom prst="roundRect">
            <a:avLst>
              <a:gd name="adj" fmla="val 8135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nb-NO" sz="14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6EA1F3-99D2-BCEF-E1B2-5C53174D3A16}"/>
              </a:ext>
            </a:extLst>
          </p:cNvPr>
          <p:cNvSpPr txBox="1"/>
          <p:nvPr/>
        </p:nvSpPr>
        <p:spPr>
          <a:xfrm>
            <a:off x="2122262" y="5335023"/>
            <a:ext cx="5223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</a:rPr>
              <a:t>Helsetjenestene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6EB0377-F80D-E328-5D4C-DBD148461B67}"/>
              </a:ext>
            </a:extLst>
          </p:cNvPr>
          <p:cNvSpPr/>
          <p:nvPr/>
        </p:nvSpPr>
        <p:spPr>
          <a:xfrm>
            <a:off x="2191347" y="5660367"/>
            <a:ext cx="1971036" cy="382378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 err="1">
                <a:solidFill>
                  <a:schemeClr val="tx1"/>
                </a:solidFill>
              </a:rPr>
              <a:t>Primæhelsetjenesten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FCD438A-FB3B-9CD9-9B38-F81EA746AEF3}"/>
              </a:ext>
            </a:extLst>
          </p:cNvPr>
          <p:cNvSpPr/>
          <p:nvPr/>
        </p:nvSpPr>
        <p:spPr>
          <a:xfrm>
            <a:off x="4299946" y="5660367"/>
            <a:ext cx="1971036" cy="382378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Spesialisthelsetjenesten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D24C94A-7615-0BED-3601-D29B018D0D6E}"/>
              </a:ext>
            </a:extLst>
          </p:cNvPr>
          <p:cNvSpPr/>
          <p:nvPr/>
        </p:nvSpPr>
        <p:spPr>
          <a:xfrm>
            <a:off x="6394634" y="5660367"/>
            <a:ext cx="1971036" cy="382378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Næringsliv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7951842-6473-8066-C439-F473B552B370}"/>
              </a:ext>
            </a:extLst>
          </p:cNvPr>
          <p:cNvSpPr/>
          <p:nvPr/>
        </p:nvSpPr>
        <p:spPr>
          <a:xfrm>
            <a:off x="8489322" y="5660367"/>
            <a:ext cx="1971036" cy="382378"/>
          </a:xfrm>
          <a:prstGeom prst="roundRect">
            <a:avLst>
              <a:gd name="adj" fmla="val 166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Frivillighet</a:t>
            </a:r>
            <a:endParaRPr lang="nb-NO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FE828D-AB5D-A0F1-A1E5-C0EA01A469C0}"/>
              </a:ext>
            </a:extLst>
          </p:cNvPr>
          <p:cNvCxnSpPr>
            <a:cxnSpLocks/>
            <a:stCxn id="28" idx="0"/>
            <a:endCxn id="15" idx="2"/>
          </p:cNvCxnSpPr>
          <p:nvPr/>
        </p:nvCxnSpPr>
        <p:spPr>
          <a:xfrm flipV="1">
            <a:off x="6840861" y="5000878"/>
            <a:ext cx="0" cy="2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748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55568B64-24EA-8AE7-337A-5B55DDE7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5</a:t>
            </a:fld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AA9CE034-2A2C-B175-7DBB-78C872E7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D8EBEB1F-7E47-C50C-E003-F6505B57719D}"/>
              </a:ext>
            </a:extLst>
          </p:cNvPr>
          <p:cNvSpPr/>
          <p:nvPr/>
        </p:nvSpPr>
        <p:spPr>
          <a:xfrm>
            <a:off x="2133600" y="1155700"/>
            <a:ext cx="5384800" cy="5384800"/>
          </a:xfrm>
          <a:prstGeom prst="ellipse">
            <a:avLst/>
          </a:prstGeom>
          <a:solidFill>
            <a:srgbClr val="F0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FC34089-3E5D-E173-0D6D-DB8F9E5A01F6}"/>
              </a:ext>
            </a:extLst>
          </p:cNvPr>
          <p:cNvSpPr/>
          <p:nvPr/>
        </p:nvSpPr>
        <p:spPr>
          <a:xfrm>
            <a:off x="2578100" y="1600200"/>
            <a:ext cx="4495800" cy="4495800"/>
          </a:xfrm>
          <a:prstGeom prst="ellipse">
            <a:avLst/>
          </a:prstGeom>
          <a:solidFill>
            <a:srgbClr val="94DBC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B71C621-AC3A-4EE0-8C70-42A19EB92951}"/>
              </a:ext>
            </a:extLst>
          </p:cNvPr>
          <p:cNvSpPr/>
          <p:nvPr/>
        </p:nvSpPr>
        <p:spPr>
          <a:xfrm>
            <a:off x="3403600" y="2425700"/>
            <a:ext cx="2844800" cy="2844800"/>
          </a:xfrm>
          <a:prstGeom prst="ellipse">
            <a:avLst/>
          </a:prstGeom>
          <a:solidFill>
            <a:srgbClr val="037FA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3D4C017-708D-9366-3F17-C175A2FC57FD}"/>
              </a:ext>
            </a:extLst>
          </p:cNvPr>
          <p:cNvSpPr/>
          <p:nvPr/>
        </p:nvSpPr>
        <p:spPr>
          <a:xfrm>
            <a:off x="4254500" y="3276600"/>
            <a:ext cx="1143000" cy="1143000"/>
          </a:xfrm>
          <a:prstGeom prst="ellipse">
            <a:avLst/>
          </a:prstGeom>
          <a:solidFill>
            <a:srgbClr val="02506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b-NO" sz="950" b="1" dirty="0">
                <a:solidFill>
                  <a:srgbClr val="FFFFFF"/>
                </a:solidFill>
              </a:rPr>
              <a:t>Innbygger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42D2A2F1-DB70-2B85-634E-DD4331E36BDF}"/>
              </a:ext>
            </a:extLst>
          </p:cNvPr>
          <p:cNvSpPr txBox="1"/>
          <p:nvPr/>
        </p:nvSpPr>
        <p:spPr>
          <a:xfrm>
            <a:off x="4406900" y="2667000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Forstå behov
og symptomer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031685E2-02EC-C6C3-A8F7-04A2BD843F6F}"/>
              </a:ext>
            </a:extLst>
          </p:cNvPr>
          <p:cNvSpPr txBox="1"/>
          <p:nvPr/>
        </p:nvSpPr>
        <p:spPr>
          <a:xfrm>
            <a:off x="5324860" y="3333937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Veiledning til
rett tjeneste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4D366A06-743E-B9DD-3194-8D55A41A48DD}"/>
              </a:ext>
            </a:extLst>
          </p:cNvPr>
          <p:cNvSpPr txBox="1"/>
          <p:nvPr/>
        </p:nvSpPr>
        <p:spPr>
          <a:xfrm>
            <a:off x="4974230" y="4413063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Motta
behandling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8EF7069-E238-5E17-38E4-D1D8C5D9A22B}"/>
              </a:ext>
            </a:extLst>
          </p:cNvPr>
          <p:cNvSpPr txBox="1"/>
          <p:nvPr/>
        </p:nvSpPr>
        <p:spPr>
          <a:xfrm>
            <a:off x="3839570" y="4413063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Oppfølging
og tilpassing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12C0945F-B03E-821B-488F-B79AD245B2ED}"/>
              </a:ext>
            </a:extLst>
          </p:cNvPr>
          <p:cNvSpPr txBox="1"/>
          <p:nvPr/>
        </p:nvSpPr>
        <p:spPr>
          <a:xfrm>
            <a:off x="3488940" y="3333937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Avslutte
behandling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Rektangel: avrundede hjørner 13">
            <a:extLst>
              <a:ext uri="{FF2B5EF4-FFF2-40B4-BE49-F238E27FC236}">
                <a16:creationId xmlns:a16="http://schemas.microsoft.com/office/drawing/2014/main" id="{5D17EED8-F85C-2D3F-5569-F668CF7D33FE}"/>
              </a:ext>
            </a:extLst>
          </p:cNvPr>
          <p:cNvSpPr/>
          <p:nvPr/>
        </p:nvSpPr>
        <p:spPr>
          <a:xfrm>
            <a:off x="4279900" y="190500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Kartlegging</a:t>
            </a:r>
          </a:p>
        </p:txBody>
      </p:sp>
      <p:sp>
        <p:nvSpPr>
          <p:cNvPr id="15" name="Rektangel: avrundede hjørner 14">
            <a:extLst>
              <a:ext uri="{FF2B5EF4-FFF2-40B4-BE49-F238E27FC236}">
                <a16:creationId xmlns:a16="http://schemas.microsoft.com/office/drawing/2014/main" id="{321E3C28-0E2A-3162-482E-88B9666A171B}"/>
              </a:ext>
            </a:extLst>
          </p:cNvPr>
          <p:cNvSpPr/>
          <p:nvPr/>
        </p:nvSpPr>
        <p:spPr>
          <a:xfrm>
            <a:off x="5830692" y="280035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Veivisning</a:t>
            </a:r>
          </a:p>
        </p:txBody>
      </p:sp>
      <p:sp>
        <p:nvSpPr>
          <p:cNvPr id="16" name="Rektangel: avrundede hjørner 15">
            <a:extLst>
              <a:ext uri="{FF2B5EF4-FFF2-40B4-BE49-F238E27FC236}">
                <a16:creationId xmlns:a16="http://schemas.microsoft.com/office/drawing/2014/main" id="{6B1B1A45-1239-501E-692A-3E8BF6AD271E}"/>
              </a:ext>
            </a:extLst>
          </p:cNvPr>
          <p:cNvSpPr/>
          <p:nvPr/>
        </p:nvSpPr>
        <p:spPr>
          <a:xfrm>
            <a:off x="5830692" y="459105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Triagering</a:t>
            </a:r>
          </a:p>
        </p:txBody>
      </p:sp>
      <p:sp>
        <p:nvSpPr>
          <p:cNvPr id="17" name="Rektangel: avrundede hjørner 16">
            <a:extLst>
              <a:ext uri="{FF2B5EF4-FFF2-40B4-BE49-F238E27FC236}">
                <a16:creationId xmlns:a16="http://schemas.microsoft.com/office/drawing/2014/main" id="{DB85C6AC-B045-B143-1F44-4F30A3E9DBED}"/>
              </a:ext>
            </a:extLst>
          </p:cNvPr>
          <p:cNvSpPr/>
          <p:nvPr/>
        </p:nvSpPr>
        <p:spPr>
          <a:xfrm>
            <a:off x="4279900" y="548640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Veiledning og
behandling</a:t>
            </a:r>
          </a:p>
        </p:txBody>
      </p:sp>
      <p:sp>
        <p:nvSpPr>
          <p:cNvPr id="18" name="Rektangel: avrundede hjørner 17">
            <a:extLst>
              <a:ext uri="{FF2B5EF4-FFF2-40B4-BE49-F238E27FC236}">
                <a16:creationId xmlns:a16="http://schemas.microsoft.com/office/drawing/2014/main" id="{05AF52DA-CCC4-90DF-4545-0D3BDD7A2AD6}"/>
              </a:ext>
            </a:extLst>
          </p:cNvPr>
          <p:cNvSpPr/>
          <p:nvPr/>
        </p:nvSpPr>
        <p:spPr>
          <a:xfrm>
            <a:off x="2729108" y="459105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Egenrapportering</a:t>
            </a:r>
          </a:p>
        </p:txBody>
      </p:sp>
      <p:sp>
        <p:nvSpPr>
          <p:cNvPr id="19" name="Rektangel: avrundede hjørner 18">
            <a:extLst>
              <a:ext uri="{FF2B5EF4-FFF2-40B4-BE49-F238E27FC236}">
                <a16:creationId xmlns:a16="http://schemas.microsoft.com/office/drawing/2014/main" id="{B0D54356-6899-E32F-80C7-9671FAF65ED4}"/>
              </a:ext>
            </a:extLst>
          </p:cNvPr>
          <p:cNvSpPr/>
          <p:nvPr/>
        </p:nvSpPr>
        <p:spPr>
          <a:xfrm>
            <a:off x="2729108" y="280035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Måling og
evaluering</a:t>
            </a:r>
          </a:p>
        </p:txBody>
      </p:sp>
      <p:sp>
        <p:nvSpPr>
          <p:cNvPr id="20" name="Rektangel: avrundede hjørner 19">
            <a:extLst>
              <a:ext uri="{FF2B5EF4-FFF2-40B4-BE49-F238E27FC236}">
                <a16:creationId xmlns:a16="http://schemas.microsoft.com/office/drawing/2014/main" id="{2C920C56-CA4A-FB27-527F-5BE11B481ADF}"/>
              </a:ext>
            </a:extLst>
          </p:cNvPr>
          <p:cNvSpPr/>
          <p:nvPr/>
        </p:nvSpPr>
        <p:spPr>
          <a:xfrm>
            <a:off x="6077533" y="1999687"/>
            <a:ext cx="12700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 dirty="0">
                <a:solidFill>
                  <a:srgbClr val="025069"/>
                </a:solidFill>
              </a:rPr>
              <a:t>Primærhelsetjenesten</a:t>
            </a:r>
          </a:p>
        </p:txBody>
      </p:sp>
      <p:sp>
        <p:nvSpPr>
          <p:cNvPr id="21" name="Rektangel: avrundede hjørner 20">
            <a:extLst>
              <a:ext uri="{FF2B5EF4-FFF2-40B4-BE49-F238E27FC236}">
                <a16:creationId xmlns:a16="http://schemas.microsoft.com/office/drawing/2014/main" id="{D100CFCD-7692-D46F-8FD0-3D24C6CF5B44}"/>
              </a:ext>
            </a:extLst>
          </p:cNvPr>
          <p:cNvSpPr/>
          <p:nvPr/>
        </p:nvSpPr>
        <p:spPr>
          <a:xfrm>
            <a:off x="6095998" y="5391713"/>
            <a:ext cx="13716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 dirty="0">
                <a:solidFill>
                  <a:srgbClr val="025069"/>
                </a:solidFill>
              </a:rPr>
              <a:t>Spesialisthelsetjenesten</a:t>
            </a:r>
          </a:p>
        </p:txBody>
      </p:sp>
      <p:sp>
        <p:nvSpPr>
          <p:cNvPr id="22" name="Rektangel: avrundede hjørner 21">
            <a:extLst>
              <a:ext uri="{FF2B5EF4-FFF2-40B4-BE49-F238E27FC236}">
                <a16:creationId xmlns:a16="http://schemas.microsoft.com/office/drawing/2014/main" id="{5A803B42-B0AD-BD30-352C-2925281889F8}"/>
              </a:ext>
            </a:extLst>
          </p:cNvPr>
          <p:cNvSpPr/>
          <p:nvPr/>
        </p:nvSpPr>
        <p:spPr>
          <a:xfrm>
            <a:off x="2514600" y="5544113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025069"/>
                </a:solidFill>
              </a:rPr>
              <a:t>Næringsliv</a:t>
            </a:r>
          </a:p>
        </p:txBody>
      </p:sp>
      <p:sp>
        <p:nvSpPr>
          <p:cNvPr id="23" name="Rektangel: avrundede hjørner 22">
            <a:extLst>
              <a:ext uri="{FF2B5EF4-FFF2-40B4-BE49-F238E27FC236}">
                <a16:creationId xmlns:a16="http://schemas.microsoft.com/office/drawing/2014/main" id="{87F99405-79C0-2498-32C4-AD453D2E453D}"/>
              </a:ext>
            </a:extLst>
          </p:cNvPr>
          <p:cNvSpPr/>
          <p:nvPr/>
        </p:nvSpPr>
        <p:spPr>
          <a:xfrm>
            <a:off x="2514600" y="1907894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025069"/>
                </a:solidFill>
              </a:rPr>
              <a:t>Frivillighet</a:t>
            </a: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32CBE454-E500-8209-4034-433CBC613C15}"/>
              </a:ext>
            </a:extLst>
          </p:cNvPr>
          <p:cNvSpPr txBox="1"/>
          <p:nvPr/>
        </p:nvSpPr>
        <p:spPr>
          <a:xfrm>
            <a:off x="507999" y="83253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nb-NO" sz="1400" b="1" dirty="0">
              <a:solidFill>
                <a:srgbClr val="02506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86AE211-D4D5-1E67-16A9-89DC83632453}"/>
              </a:ext>
            </a:extLst>
          </p:cNvPr>
          <p:cNvSpPr/>
          <p:nvPr/>
        </p:nvSpPr>
        <p:spPr>
          <a:xfrm>
            <a:off x="8191500" y="1409700"/>
            <a:ext cx="190500" cy="190500"/>
          </a:xfrm>
          <a:prstGeom prst="ellipse">
            <a:avLst/>
          </a:prstGeom>
          <a:solidFill>
            <a:srgbClr val="02506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" name="TekstSylinder 26">
            <a:extLst>
              <a:ext uri="{FF2B5EF4-FFF2-40B4-BE49-F238E27FC236}">
                <a16:creationId xmlns:a16="http://schemas.microsoft.com/office/drawing/2014/main" id="{FEFC4076-D4B4-B586-1853-38ED7FAE9E93}"/>
              </a:ext>
            </a:extLst>
          </p:cNvPr>
          <p:cNvSpPr txBox="1"/>
          <p:nvPr/>
        </p:nvSpPr>
        <p:spPr>
          <a:xfrm>
            <a:off x="8496300" y="1346200"/>
            <a:ext cx="349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b-NO" sz="1050" b="1">
                <a:solidFill>
                  <a:srgbClr val="02506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Innbyggeren i sentrum
Alt bygges utenfra og inn mot innbyggerens behov</a:t>
            </a:r>
            <a:endParaRPr lang="nb-NO" sz="1050" b="1" dirty="0" err="1">
              <a:solidFill>
                <a:srgbClr val="02506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03CF950-C51F-FE41-04AA-AC6ADB842F2D}"/>
              </a:ext>
            </a:extLst>
          </p:cNvPr>
          <p:cNvSpPr/>
          <p:nvPr/>
        </p:nvSpPr>
        <p:spPr>
          <a:xfrm>
            <a:off x="8191500" y="2324100"/>
            <a:ext cx="190500" cy="190500"/>
          </a:xfrm>
          <a:prstGeom prst="ellipse">
            <a:avLst/>
          </a:prstGeom>
          <a:solidFill>
            <a:srgbClr val="037FA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8AB9CC59-BCBA-8E7F-663D-59413389785A}"/>
              </a:ext>
            </a:extLst>
          </p:cNvPr>
          <p:cNvSpPr txBox="1"/>
          <p:nvPr/>
        </p:nvSpPr>
        <p:spPr>
          <a:xfrm>
            <a:off x="8496300" y="2260600"/>
            <a:ext cx="349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b-NO" sz="1050" b="1">
                <a:solidFill>
                  <a:srgbClr val="02506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Forløpet
Stegene innbygger og helsepersonell går gjennom</a:t>
            </a:r>
            <a:endParaRPr lang="nb-NO" sz="1050" b="1" dirty="0" err="1">
              <a:solidFill>
                <a:srgbClr val="02506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F8EE68EB-0E77-78E8-29E3-D2D5C394F677}"/>
              </a:ext>
            </a:extLst>
          </p:cNvPr>
          <p:cNvSpPr/>
          <p:nvPr/>
        </p:nvSpPr>
        <p:spPr>
          <a:xfrm>
            <a:off x="8191500" y="3238500"/>
            <a:ext cx="190500" cy="190500"/>
          </a:xfrm>
          <a:prstGeom prst="ellipse">
            <a:avLst/>
          </a:prstGeom>
          <a:solidFill>
            <a:srgbClr val="94DBC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TekstSylinder 30">
            <a:extLst>
              <a:ext uri="{FF2B5EF4-FFF2-40B4-BE49-F238E27FC236}">
                <a16:creationId xmlns:a16="http://schemas.microsoft.com/office/drawing/2014/main" id="{65652F38-4405-64DC-6E0F-464D755A6D5A}"/>
              </a:ext>
            </a:extLst>
          </p:cNvPr>
          <p:cNvSpPr txBox="1"/>
          <p:nvPr/>
        </p:nvSpPr>
        <p:spPr>
          <a:xfrm>
            <a:off x="8496300" y="3175000"/>
            <a:ext cx="349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b-NO" sz="1050" b="1">
                <a:solidFill>
                  <a:srgbClr val="02506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Nasjonale førstelinjeevner
Limet som binder forløpet sammen på tvers av organisatoriske og tekniske grenser</a:t>
            </a:r>
            <a:endParaRPr lang="nb-NO" sz="1050" b="1" dirty="0" err="1">
              <a:solidFill>
                <a:srgbClr val="02506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E0D467AF-9A0A-EE2F-C6AB-7CA7F30354BA}"/>
              </a:ext>
            </a:extLst>
          </p:cNvPr>
          <p:cNvSpPr/>
          <p:nvPr/>
        </p:nvSpPr>
        <p:spPr>
          <a:xfrm>
            <a:off x="8191500" y="4152900"/>
            <a:ext cx="190500" cy="190500"/>
          </a:xfrm>
          <a:prstGeom prst="ellipse">
            <a:avLst/>
          </a:prstGeom>
          <a:solidFill>
            <a:srgbClr val="F0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TekstSylinder 32">
            <a:extLst>
              <a:ext uri="{FF2B5EF4-FFF2-40B4-BE49-F238E27FC236}">
                <a16:creationId xmlns:a16="http://schemas.microsoft.com/office/drawing/2014/main" id="{B6BB857F-B0C1-5888-A6C1-D5B4ABD378B9}"/>
              </a:ext>
            </a:extLst>
          </p:cNvPr>
          <p:cNvSpPr txBox="1"/>
          <p:nvPr/>
        </p:nvSpPr>
        <p:spPr>
          <a:xfrm>
            <a:off x="8496300" y="4089400"/>
            <a:ext cx="349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b-NO" sz="1050" b="1">
                <a:solidFill>
                  <a:srgbClr val="02506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Aktørene som leverer
Primær- og spesialisthelsetjeneste, næringsliv, frivillighet</a:t>
            </a:r>
            <a:endParaRPr lang="nb-NO" sz="1050" b="1" dirty="0" err="1">
              <a:solidFill>
                <a:srgbClr val="02506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Title 4">
            <a:extLst>
              <a:ext uri="{FF2B5EF4-FFF2-40B4-BE49-F238E27FC236}">
                <a16:creationId xmlns:a16="http://schemas.microsoft.com/office/drawing/2014/main" id="{A3C18C2F-0545-E7FB-3619-2E787F55C567}"/>
              </a:ext>
            </a:extLst>
          </p:cNvPr>
          <p:cNvSpPr txBox="1">
            <a:spLocks/>
          </p:cNvSpPr>
          <p:nvPr/>
        </p:nvSpPr>
        <p:spPr>
          <a:xfrm>
            <a:off x="629692" y="-114320"/>
            <a:ext cx="10932613" cy="142218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2400" dirty="0"/>
              <a:t>Fremtidens helsetjeneste vil bestå av mer sammenhengende forløp hvor innbygger gjør mer selv og helsepersonell bruker sin kompetanse der det trengs</a:t>
            </a:r>
          </a:p>
        </p:txBody>
      </p:sp>
    </p:spTree>
    <p:extLst>
      <p:ext uri="{BB962C8B-B14F-4D97-AF65-F5344CB8AC3E}">
        <p14:creationId xmlns:p14="http://schemas.microsoft.com/office/powerpoint/2010/main" val="368743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55568B64-24EA-8AE7-337A-5B55DDE7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6</a:t>
            </a:fld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AA9CE034-2A2C-B175-7DBB-78C872E7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D8EBEB1F-7E47-C50C-E003-F6505B57719D}"/>
              </a:ext>
            </a:extLst>
          </p:cNvPr>
          <p:cNvSpPr/>
          <p:nvPr/>
        </p:nvSpPr>
        <p:spPr>
          <a:xfrm>
            <a:off x="2133600" y="1155700"/>
            <a:ext cx="5384800" cy="5384800"/>
          </a:xfrm>
          <a:prstGeom prst="ellipse">
            <a:avLst/>
          </a:prstGeom>
          <a:solidFill>
            <a:srgbClr val="F0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FC34089-3E5D-E173-0D6D-DB8F9E5A01F6}"/>
              </a:ext>
            </a:extLst>
          </p:cNvPr>
          <p:cNvSpPr/>
          <p:nvPr/>
        </p:nvSpPr>
        <p:spPr>
          <a:xfrm>
            <a:off x="2578100" y="1600200"/>
            <a:ext cx="4495800" cy="4495800"/>
          </a:xfrm>
          <a:prstGeom prst="ellipse">
            <a:avLst/>
          </a:prstGeom>
          <a:solidFill>
            <a:srgbClr val="94DBC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B71C621-AC3A-4EE0-8C70-42A19EB92951}"/>
              </a:ext>
            </a:extLst>
          </p:cNvPr>
          <p:cNvSpPr/>
          <p:nvPr/>
        </p:nvSpPr>
        <p:spPr>
          <a:xfrm>
            <a:off x="3403600" y="2425700"/>
            <a:ext cx="2844800" cy="2844800"/>
          </a:xfrm>
          <a:prstGeom prst="ellipse">
            <a:avLst/>
          </a:prstGeom>
          <a:solidFill>
            <a:srgbClr val="037FA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3D4C017-708D-9366-3F17-C175A2FC57FD}"/>
              </a:ext>
            </a:extLst>
          </p:cNvPr>
          <p:cNvSpPr/>
          <p:nvPr/>
        </p:nvSpPr>
        <p:spPr>
          <a:xfrm>
            <a:off x="4254500" y="3276600"/>
            <a:ext cx="1143000" cy="1143000"/>
          </a:xfrm>
          <a:prstGeom prst="ellipse">
            <a:avLst/>
          </a:prstGeom>
          <a:solidFill>
            <a:srgbClr val="02506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b-NO" sz="950" b="1" dirty="0">
              <a:solidFill>
                <a:srgbClr val="FFFFFF"/>
              </a:solidFill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42D2A2F1-DB70-2B85-634E-DD4331E36BDF}"/>
              </a:ext>
            </a:extLst>
          </p:cNvPr>
          <p:cNvSpPr txBox="1"/>
          <p:nvPr/>
        </p:nvSpPr>
        <p:spPr>
          <a:xfrm>
            <a:off x="4406900" y="2667000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Forstå behov
og symptomer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031685E2-02EC-C6C3-A8F7-04A2BD843F6F}"/>
              </a:ext>
            </a:extLst>
          </p:cNvPr>
          <p:cNvSpPr txBox="1"/>
          <p:nvPr/>
        </p:nvSpPr>
        <p:spPr>
          <a:xfrm>
            <a:off x="5324860" y="3333937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Veiledning til
rett tjeneste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4D366A06-743E-B9DD-3194-8D55A41A48DD}"/>
              </a:ext>
            </a:extLst>
          </p:cNvPr>
          <p:cNvSpPr txBox="1"/>
          <p:nvPr/>
        </p:nvSpPr>
        <p:spPr>
          <a:xfrm>
            <a:off x="4974230" y="4413063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Motta
behandling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8EF7069-E238-5E17-38E4-D1D8C5D9A22B}"/>
              </a:ext>
            </a:extLst>
          </p:cNvPr>
          <p:cNvSpPr txBox="1"/>
          <p:nvPr/>
        </p:nvSpPr>
        <p:spPr>
          <a:xfrm>
            <a:off x="3839570" y="4413063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Oppfølging
og tilpassing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12C0945F-B03E-821B-488F-B79AD245B2ED}"/>
              </a:ext>
            </a:extLst>
          </p:cNvPr>
          <p:cNvSpPr txBox="1"/>
          <p:nvPr/>
        </p:nvSpPr>
        <p:spPr>
          <a:xfrm>
            <a:off x="3488940" y="3333937"/>
            <a:ext cx="838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nb-NO" sz="750" b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Avslutte
behandling</a:t>
            </a:r>
            <a:endParaRPr lang="nb-NO" sz="750" b="1" dirty="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Rektangel: avrundede hjørner 13">
            <a:extLst>
              <a:ext uri="{FF2B5EF4-FFF2-40B4-BE49-F238E27FC236}">
                <a16:creationId xmlns:a16="http://schemas.microsoft.com/office/drawing/2014/main" id="{5D17EED8-F85C-2D3F-5569-F668CF7D33FE}"/>
              </a:ext>
            </a:extLst>
          </p:cNvPr>
          <p:cNvSpPr/>
          <p:nvPr/>
        </p:nvSpPr>
        <p:spPr>
          <a:xfrm>
            <a:off x="4279900" y="190500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Kartlegging</a:t>
            </a:r>
          </a:p>
        </p:txBody>
      </p:sp>
      <p:sp>
        <p:nvSpPr>
          <p:cNvPr id="15" name="Rektangel: avrundede hjørner 14">
            <a:extLst>
              <a:ext uri="{FF2B5EF4-FFF2-40B4-BE49-F238E27FC236}">
                <a16:creationId xmlns:a16="http://schemas.microsoft.com/office/drawing/2014/main" id="{321E3C28-0E2A-3162-482E-88B9666A171B}"/>
              </a:ext>
            </a:extLst>
          </p:cNvPr>
          <p:cNvSpPr/>
          <p:nvPr/>
        </p:nvSpPr>
        <p:spPr>
          <a:xfrm>
            <a:off x="5830692" y="280035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Veivisning</a:t>
            </a:r>
          </a:p>
        </p:txBody>
      </p:sp>
      <p:sp>
        <p:nvSpPr>
          <p:cNvPr id="16" name="Rektangel: avrundede hjørner 15">
            <a:extLst>
              <a:ext uri="{FF2B5EF4-FFF2-40B4-BE49-F238E27FC236}">
                <a16:creationId xmlns:a16="http://schemas.microsoft.com/office/drawing/2014/main" id="{6B1B1A45-1239-501E-692A-3E8BF6AD271E}"/>
              </a:ext>
            </a:extLst>
          </p:cNvPr>
          <p:cNvSpPr/>
          <p:nvPr/>
        </p:nvSpPr>
        <p:spPr>
          <a:xfrm>
            <a:off x="5830692" y="459105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Triagering</a:t>
            </a:r>
          </a:p>
        </p:txBody>
      </p:sp>
      <p:sp>
        <p:nvSpPr>
          <p:cNvPr id="17" name="Rektangel: avrundede hjørner 16">
            <a:extLst>
              <a:ext uri="{FF2B5EF4-FFF2-40B4-BE49-F238E27FC236}">
                <a16:creationId xmlns:a16="http://schemas.microsoft.com/office/drawing/2014/main" id="{DB85C6AC-B045-B143-1F44-4F30A3E9DBED}"/>
              </a:ext>
            </a:extLst>
          </p:cNvPr>
          <p:cNvSpPr/>
          <p:nvPr/>
        </p:nvSpPr>
        <p:spPr>
          <a:xfrm>
            <a:off x="4279900" y="548640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Veiledning og
behandling</a:t>
            </a:r>
          </a:p>
        </p:txBody>
      </p:sp>
      <p:sp>
        <p:nvSpPr>
          <p:cNvPr id="18" name="Rektangel: avrundede hjørner 17">
            <a:extLst>
              <a:ext uri="{FF2B5EF4-FFF2-40B4-BE49-F238E27FC236}">
                <a16:creationId xmlns:a16="http://schemas.microsoft.com/office/drawing/2014/main" id="{05AF52DA-CCC4-90DF-4545-0D3BDD7A2AD6}"/>
              </a:ext>
            </a:extLst>
          </p:cNvPr>
          <p:cNvSpPr/>
          <p:nvPr/>
        </p:nvSpPr>
        <p:spPr>
          <a:xfrm>
            <a:off x="2729108" y="459105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Egenrapportering</a:t>
            </a:r>
          </a:p>
        </p:txBody>
      </p:sp>
      <p:sp>
        <p:nvSpPr>
          <p:cNvPr id="19" name="Rektangel: avrundede hjørner 18">
            <a:extLst>
              <a:ext uri="{FF2B5EF4-FFF2-40B4-BE49-F238E27FC236}">
                <a16:creationId xmlns:a16="http://schemas.microsoft.com/office/drawing/2014/main" id="{B0D54356-6899-E32F-80C7-9671FAF65ED4}"/>
              </a:ext>
            </a:extLst>
          </p:cNvPr>
          <p:cNvSpPr/>
          <p:nvPr/>
        </p:nvSpPr>
        <p:spPr>
          <a:xfrm>
            <a:off x="2729108" y="2800350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02506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FFFFFF"/>
                </a:solidFill>
              </a:rPr>
              <a:t>Måling og
evaluering</a:t>
            </a:r>
          </a:p>
        </p:txBody>
      </p:sp>
      <p:sp>
        <p:nvSpPr>
          <p:cNvPr id="20" name="Rektangel: avrundede hjørner 19">
            <a:extLst>
              <a:ext uri="{FF2B5EF4-FFF2-40B4-BE49-F238E27FC236}">
                <a16:creationId xmlns:a16="http://schemas.microsoft.com/office/drawing/2014/main" id="{2C920C56-CA4A-FB27-527F-5BE11B481ADF}"/>
              </a:ext>
            </a:extLst>
          </p:cNvPr>
          <p:cNvSpPr/>
          <p:nvPr/>
        </p:nvSpPr>
        <p:spPr>
          <a:xfrm>
            <a:off x="6077533" y="1999687"/>
            <a:ext cx="12700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 dirty="0">
                <a:solidFill>
                  <a:srgbClr val="025069"/>
                </a:solidFill>
              </a:rPr>
              <a:t>Primærhelsetjenesten</a:t>
            </a:r>
          </a:p>
        </p:txBody>
      </p:sp>
      <p:sp>
        <p:nvSpPr>
          <p:cNvPr id="21" name="Rektangel: avrundede hjørner 20">
            <a:extLst>
              <a:ext uri="{FF2B5EF4-FFF2-40B4-BE49-F238E27FC236}">
                <a16:creationId xmlns:a16="http://schemas.microsoft.com/office/drawing/2014/main" id="{D100CFCD-7692-D46F-8FD0-3D24C6CF5B44}"/>
              </a:ext>
            </a:extLst>
          </p:cNvPr>
          <p:cNvSpPr/>
          <p:nvPr/>
        </p:nvSpPr>
        <p:spPr>
          <a:xfrm>
            <a:off x="6095998" y="5391713"/>
            <a:ext cx="13716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 dirty="0">
                <a:solidFill>
                  <a:srgbClr val="025069"/>
                </a:solidFill>
              </a:rPr>
              <a:t>Spesialisthelsetjenesten</a:t>
            </a:r>
          </a:p>
        </p:txBody>
      </p:sp>
      <p:sp>
        <p:nvSpPr>
          <p:cNvPr id="22" name="Rektangel: avrundede hjørner 21">
            <a:extLst>
              <a:ext uri="{FF2B5EF4-FFF2-40B4-BE49-F238E27FC236}">
                <a16:creationId xmlns:a16="http://schemas.microsoft.com/office/drawing/2014/main" id="{5A803B42-B0AD-BD30-352C-2925281889F8}"/>
              </a:ext>
            </a:extLst>
          </p:cNvPr>
          <p:cNvSpPr/>
          <p:nvPr/>
        </p:nvSpPr>
        <p:spPr>
          <a:xfrm>
            <a:off x="2514600" y="5544113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025069"/>
                </a:solidFill>
              </a:rPr>
              <a:t>Næringsliv</a:t>
            </a:r>
          </a:p>
        </p:txBody>
      </p:sp>
      <p:sp>
        <p:nvSpPr>
          <p:cNvPr id="23" name="Rektangel: avrundede hjørner 22">
            <a:extLst>
              <a:ext uri="{FF2B5EF4-FFF2-40B4-BE49-F238E27FC236}">
                <a16:creationId xmlns:a16="http://schemas.microsoft.com/office/drawing/2014/main" id="{87F99405-79C0-2498-32C4-AD453D2E453D}"/>
              </a:ext>
            </a:extLst>
          </p:cNvPr>
          <p:cNvSpPr/>
          <p:nvPr/>
        </p:nvSpPr>
        <p:spPr>
          <a:xfrm>
            <a:off x="2514600" y="1907894"/>
            <a:ext cx="10922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nb-NO" sz="750" b="1">
                <a:solidFill>
                  <a:srgbClr val="025069"/>
                </a:solidFill>
              </a:rPr>
              <a:t>Frivillighet</a:t>
            </a: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32CBE454-E500-8209-4034-433CBC613C15}"/>
              </a:ext>
            </a:extLst>
          </p:cNvPr>
          <p:cNvSpPr txBox="1"/>
          <p:nvPr/>
        </p:nvSpPr>
        <p:spPr>
          <a:xfrm>
            <a:off x="507999" y="83253"/>
            <a:ext cx="1117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nb-NO" sz="1400" b="1" dirty="0">
              <a:solidFill>
                <a:srgbClr val="02506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86AE211-D4D5-1E67-16A9-89DC83632453}"/>
              </a:ext>
            </a:extLst>
          </p:cNvPr>
          <p:cNvSpPr/>
          <p:nvPr/>
        </p:nvSpPr>
        <p:spPr>
          <a:xfrm>
            <a:off x="8191500" y="1409700"/>
            <a:ext cx="190500" cy="190500"/>
          </a:xfrm>
          <a:prstGeom prst="ellipse">
            <a:avLst/>
          </a:prstGeom>
          <a:solidFill>
            <a:srgbClr val="02506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" name="TekstSylinder 26">
            <a:extLst>
              <a:ext uri="{FF2B5EF4-FFF2-40B4-BE49-F238E27FC236}">
                <a16:creationId xmlns:a16="http://schemas.microsoft.com/office/drawing/2014/main" id="{FEFC4076-D4B4-B586-1853-38ED7FAE9E93}"/>
              </a:ext>
            </a:extLst>
          </p:cNvPr>
          <p:cNvSpPr txBox="1"/>
          <p:nvPr/>
        </p:nvSpPr>
        <p:spPr>
          <a:xfrm>
            <a:off x="8496300" y="1346200"/>
            <a:ext cx="349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b-NO" sz="1050" b="1" dirty="0">
                <a:solidFill>
                  <a:srgbClr val="02506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Innbyggeren i sentrum
Alt bygges utenfra og inn mot innbyggerens behov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03CF950-C51F-FE41-04AA-AC6ADB842F2D}"/>
              </a:ext>
            </a:extLst>
          </p:cNvPr>
          <p:cNvSpPr/>
          <p:nvPr/>
        </p:nvSpPr>
        <p:spPr>
          <a:xfrm>
            <a:off x="8191500" y="2324100"/>
            <a:ext cx="190500" cy="190500"/>
          </a:xfrm>
          <a:prstGeom prst="ellipse">
            <a:avLst/>
          </a:prstGeom>
          <a:solidFill>
            <a:srgbClr val="037FA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8AB9CC59-BCBA-8E7F-663D-59413389785A}"/>
              </a:ext>
            </a:extLst>
          </p:cNvPr>
          <p:cNvSpPr txBox="1"/>
          <p:nvPr/>
        </p:nvSpPr>
        <p:spPr>
          <a:xfrm>
            <a:off x="8496300" y="2260600"/>
            <a:ext cx="349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b-NO" sz="1050" b="1" dirty="0">
                <a:solidFill>
                  <a:srgbClr val="02506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Forløpet
Stegene innbygger og helsepersonell går gjennom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F8EE68EB-0E77-78E8-29E3-D2D5C394F677}"/>
              </a:ext>
            </a:extLst>
          </p:cNvPr>
          <p:cNvSpPr/>
          <p:nvPr/>
        </p:nvSpPr>
        <p:spPr>
          <a:xfrm>
            <a:off x="8191500" y="3238500"/>
            <a:ext cx="190500" cy="190500"/>
          </a:xfrm>
          <a:prstGeom prst="ellipse">
            <a:avLst/>
          </a:prstGeom>
          <a:solidFill>
            <a:srgbClr val="94DBC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1" name="TekstSylinder 30">
            <a:extLst>
              <a:ext uri="{FF2B5EF4-FFF2-40B4-BE49-F238E27FC236}">
                <a16:creationId xmlns:a16="http://schemas.microsoft.com/office/drawing/2014/main" id="{65652F38-4405-64DC-6E0F-464D755A6D5A}"/>
              </a:ext>
            </a:extLst>
          </p:cNvPr>
          <p:cNvSpPr txBox="1"/>
          <p:nvPr/>
        </p:nvSpPr>
        <p:spPr>
          <a:xfrm>
            <a:off x="8496300" y="3175000"/>
            <a:ext cx="349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b-NO" sz="1050" b="1" dirty="0">
                <a:solidFill>
                  <a:srgbClr val="02506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Nasjonale førstelinjeevner
Limet som binder forløpet sammen på tvers av organisatoriske og tekniske grenser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E0D467AF-9A0A-EE2F-C6AB-7CA7F30354BA}"/>
              </a:ext>
            </a:extLst>
          </p:cNvPr>
          <p:cNvSpPr/>
          <p:nvPr/>
        </p:nvSpPr>
        <p:spPr>
          <a:xfrm>
            <a:off x="8191500" y="4152900"/>
            <a:ext cx="190500" cy="190500"/>
          </a:xfrm>
          <a:prstGeom prst="ellipse">
            <a:avLst/>
          </a:prstGeom>
          <a:solidFill>
            <a:srgbClr val="F0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TekstSylinder 32">
            <a:extLst>
              <a:ext uri="{FF2B5EF4-FFF2-40B4-BE49-F238E27FC236}">
                <a16:creationId xmlns:a16="http://schemas.microsoft.com/office/drawing/2014/main" id="{B6BB857F-B0C1-5888-A6C1-D5B4ABD378B9}"/>
              </a:ext>
            </a:extLst>
          </p:cNvPr>
          <p:cNvSpPr txBox="1"/>
          <p:nvPr/>
        </p:nvSpPr>
        <p:spPr>
          <a:xfrm>
            <a:off x="8496300" y="4089400"/>
            <a:ext cx="349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b-NO" sz="1050" b="1" dirty="0">
                <a:solidFill>
                  <a:srgbClr val="02506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Aktørene som leverer
Primær- og spesialisthelsetjeneste, næringsliv, frivillighet</a:t>
            </a:r>
          </a:p>
        </p:txBody>
      </p:sp>
      <p:sp>
        <p:nvSpPr>
          <p:cNvPr id="37" name="Title 4">
            <a:extLst>
              <a:ext uri="{FF2B5EF4-FFF2-40B4-BE49-F238E27FC236}">
                <a16:creationId xmlns:a16="http://schemas.microsoft.com/office/drawing/2014/main" id="{A3C18C2F-0545-E7FB-3619-2E787F55C567}"/>
              </a:ext>
            </a:extLst>
          </p:cNvPr>
          <p:cNvSpPr txBox="1">
            <a:spLocks/>
          </p:cNvSpPr>
          <p:nvPr/>
        </p:nvSpPr>
        <p:spPr>
          <a:xfrm>
            <a:off x="629692" y="-114320"/>
            <a:ext cx="10932613" cy="142218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2400" dirty="0"/>
              <a:t>Fremtidens helsetjeneste vil bestå av mer sammenhengende forløp hvor innbygger gjør mer selv og helsepersonell bruker sin kompetanse der det trengs</a:t>
            </a:r>
          </a:p>
        </p:txBody>
      </p:sp>
      <p:pic>
        <p:nvPicPr>
          <p:cNvPr id="24" name="Ikon innbygger">
            <a:extLst>
              <a:ext uri="{FF2B5EF4-FFF2-40B4-BE49-F238E27FC236}">
                <a16:creationId xmlns:a16="http://schemas.microsoft.com/office/drawing/2014/main" id="{1734FBD8-008C-907F-654D-A2D0DC57B4D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310278" y="3579495"/>
            <a:ext cx="537210" cy="537210"/>
          </a:xfrm>
          <a:prstGeom prst="ellipse">
            <a:avLst/>
          </a:prstGeom>
          <a:ln w="15875">
            <a:solidFill>
              <a:srgbClr val="FFFFFF"/>
            </a:solidFill>
          </a:ln>
        </p:spPr>
      </p:pic>
      <p:pic>
        <p:nvPicPr>
          <p:cNvPr id="35" name="Ikon helsepersonell">
            <a:extLst>
              <a:ext uri="{FF2B5EF4-FFF2-40B4-BE49-F238E27FC236}">
                <a16:creationId xmlns:a16="http://schemas.microsoft.com/office/drawing/2014/main" id="{6E6D4A71-9EE5-C66E-C87D-F582101BCD3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804512" y="3579495"/>
            <a:ext cx="537210" cy="537210"/>
          </a:xfrm>
          <a:prstGeom prst="ellipse">
            <a:avLst/>
          </a:prstGeom>
          <a:ln w="158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1776955512"/>
      </p:ext>
    </p:extLst>
  </p:cSld>
  <p:clrMapOvr>
    <a:masterClrMapping/>
  </p:clrMapOvr>
</p:sld>
</file>

<file path=ppt/theme/theme1.xml><?xml version="1.0" encoding="utf-8"?>
<a:theme xmlns:a="http://schemas.openxmlformats.org/drawingml/2006/main" name="Helsedir 2024">
  <a:themeElements>
    <a:clrScheme name="Hdir-2024">
      <a:dk1>
        <a:srgbClr val="202020"/>
      </a:dk1>
      <a:lt1>
        <a:srgbClr val="FFFFFF"/>
      </a:lt1>
      <a:dk2>
        <a:srgbClr val="504F4F"/>
      </a:dk2>
      <a:lt2>
        <a:srgbClr val="F0F5FF"/>
      </a:lt2>
      <a:accent1>
        <a:srgbClr val="025069"/>
      </a:accent1>
      <a:accent2>
        <a:srgbClr val="037FA2"/>
      </a:accent2>
      <a:accent3>
        <a:srgbClr val="0069E7"/>
      </a:accent3>
      <a:accent4>
        <a:srgbClr val="7C145C"/>
      </a:accent4>
      <a:accent5>
        <a:srgbClr val="366558"/>
      </a:accent5>
      <a:accent6>
        <a:srgbClr val="94DBC9"/>
      </a:accent6>
      <a:hlink>
        <a:srgbClr val="0069E7"/>
      </a:hlink>
      <a:folHlink>
        <a:srgbClr val="0069E7"/>
      </a:folHlink>
    </a:clrScheme>
    <a:fontScheme name="Tes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601DC876-18E6-5248-B7CD-DB30192D8ED3}" vid="{A968C0C9-9EEB-5942-B1B3-946F531922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4D641ED0601B84E95C7730E98590A11" ma:contentTypeVersion="10" ma:contentTypeDescription="Opprett et nytt dokument." ma:contentTypeScope="" ma:versionID="d4446fe98beed284ee3c4cdeaf23c6e6">
  <xsd:schema xmlns:xsd="http://www.w3.org/2001/XMLSchema" xmlns:xs="http://www.w3.org/2001/XMLSchema" xmlns:p="http://schemas.microsoft.com/office/2006/metadata/properties" xmlns:ns2="8d83cb3e-5469-4ba3-8e7f-a0f40b26c827" xmlns:ns3="c56c3c49-4b7b-4732-b272-724ee8eca3e9" targetNamespace="http://schemas.microsoft.com/office/2006/metadata/properties" ma:root="true" ma:fieldsID="e8390578ca246f8405023ccaa1c91ee3" ns2:_="" ns3:_="">
    <xsd:import namespace="8d83cb3e-5469-4ba3-8e7f-a0f40b26c827"/>
    <xsd:import namespace="c56c3c49-4b7b-4732-b272-724ee8eca3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83cb3e-5469-4ba3-8e7f-a0f40b26c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emerkelapper" ma:readOnly="false" ma:fieldId="{5cf76f15-5ced-4ddc-b409-7134ff3c332f}" ma:taxonomyMulti="true" ma:sspId="44bd27e2-62de-4af1-85f7-19d8bf2bfc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6c3c49-4b7b-4732-b272-724ee8eca3e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812a2d0-645d-4f23-9e48-ace78da76045}" ma:internalName="TaxCatchAll" ma:showField="CatchAllData" ma:web="c56c3c49-4b7b-4732-b272-724ee8eca3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83cb3e-5469-4ba3-8e7f-a0f40b26c827">
      <Terms xmlns="http://schemas.microsoft.com/office/infopath/2007/PartnerControls"/>
    </lcf76f155ced4ddcb4097134ff3c332f>
    <TaxCatchAll xmlns="c56c3c49-4b7b-4732-b272-724ee8eca3e9" xsi:nil="true"/>
  </documentManagement>
</p:properties>
</file>

<file path=customXml/itemProps1.xml><?xml version="1.0" encoding="utf-8"?>
<ds:datastoreItem xmlns:ds="http://schemas.openxmlformats.org/officeDocument/2006/customXml" ds:itemID="{D406CC38-64B4-4842-9ED1-8E27A76D07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83cb3e-5469-4ba3-8e7f-a0f40b26c827"/>
    <ds:schemaRef ds:uri="c56c3c49-4b7b-4732-b272-724ee8eca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8C70EF-4204-48CC-9705-9783C12D2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DE6656-7D40-49FF-8310-EF271454CE17}">
  <ds:schemaRefs>
    <ds:schemaRef ds:uri="http://purl.org/dc/terms/"/>
    <ds:schemaRef ds:uri="c56c3c49-4b7b-4732-b272-724ee8eca3e9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8d83cb3e-5469-4ba3-8e7f-a0f40b26c827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6ba1bd5c-750f-4ad6-aba3-0f95585bc21f}" enabled="0" method="" siteId="{6ba1bd5c-750f-4ad6-aba3-0f95585bc2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Helsedir 2024</Template>
  <TotalTime>58</TotalTime>
  <Words>381</Words>
  <Application>Microsoft Office PowerPoint</Application>
  <PresentationFormat>Widescreen</PresentationFormat>
  <Paragraphs>86</Paragraphs>
  <Slides>6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6</vt:i4>
      </vt:variant>
    </vt:vector>
  </HeadingPairs>
  <TitlesOfParts>
    <vt:vector size="12" baseType="lpstr">
      <vt:lpstr>Arial</vt:lpstr>
      <vt:lpstr>Calibri</vt:lpstr>
      <vt:lpstr>Roboto</vt:lpstr>
      <vt:lpstr>Roboto Black</vt:lpstr>
      <vt:lpstr>Roboto Light</vt:lpstr>
      <vt:lpstr>Helsedir 2024</vt:lpstr>
      <vt:lpstr>Fremtidsbilde digital førstelinje</vt:lpstr>
      <vt:lpstr>Fremtidens helsetjeneste vil bestå av mer sammenhengende forløp hvor innbygger gjør mer selv og helsepersonell bruker sin kompetanse der det trengs</vt:lpstr>
      <vt:lpstr>Digital førstelinje er limet av evner (kapabiliteter) som binder forløpet sammen på tvers av organisasjonelle og tekniske grenser.</vt:lpstr>
      <vt:lpstr>Helsedirektorates rolle blir å fasilitere samhandling mellom helseaktørene rundt utvikling av nasjonale førstelinje-evner og rydde barrierene av veien slik at riktig tjeneste møter innbygger raskere og mer sammenhengende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Mellgren</dc:creator>
  <cp:lastModifiedBy>Thomas Tveit Rosenlund</cp:lastModifiedBy>
  <cp:revision>9</cp:revision>
  <dcterms:created xsi:type="dcterms:W3CDTF">2026-08-31T09:23:31Z</dcterms:created>
  <dcterms:modified xsi:type="dcterms:W3CDTF">2026-08-31T10:56:10Z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0x010100A4D641ED0601B84E95C7730E98590A11</vt:lpwstr>
  </property>
</Properties>
</file>