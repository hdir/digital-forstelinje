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364F"/>
                </a:solidFill>
                <a:latin typeface="Aptos Display"/>
              </a:defRPr>
            </a:pPr>
            <a:r>
              <a:t>Grunnstrukturen i helsetenesta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56C"/>
                </a:solidFill>
                <a:latin typeface="Aptos"/>
              </a:defRPr>
            </a:pPr>
            <a:r>
              <a:t>Vanlege pasientforløp mellom kommunehelsetenesta og spesialisthelsetenesta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3749039" cy="5303520"/>
          </a:xfrm>
          <a:prstGeom prst="rect">
            <a:avLst/>
          </a:prstGeom>
          <a:solidFill>
            <a:srgbClr val="DCF0E8"/>
          </a:solidFill>
          <a:ln w="9525">
            <a:solidFill>
              <a:srgbClr val="A5B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" y="1188719"/>
            <a:ext cx="3493007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364F"/>
                </a:solidFill>
                <a:latin typeface="Aptos"/>
              </a:defRPr>
            </a:pPr>
            <a:r>
              <a:t>KOMMUNEHELSETENESTA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4528" y="1078992"/>
            <a:ext cx="2926080" cy="5303520"/>
          </a:xfrm>
          <a:prstGeom prst="rect">
            <a:avLst/>
          </a:prstGeom>
          <a:solidFill>
            <a:srgbClr val="FFF4C2"/>
          </a:solidFill>
          <a:ln w="9525">
            <a:solidFill>
              <a:srgbClr val="A5B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2544" y="1188719"/>
            <a:ext cx="2670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364F"/>
                </a:solidFill>
                <a:latin typeface="Aptos"/>
              </a:defRPr>
            </a:pPr>
            <a:r>
              <a:t>OVERGANG OG AKUTT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96912" y="1078992"/>
            <a:ext cx="4572000" cy="5303520"/>
          </a:xfrm>
          <a:prstGeom prst="rect">
            <a:avLst/>
          </a:prstGeom>
          <a:solidFill>
            <a:srgbClr val="DAEAF7"/>
          </a:solidFill>
          <a:ln w="9525">
            <a:solidFill>
              <a:srgbClr val="A5B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8" y="1188719"/>
            <a:ext cx="43159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364F"/>
                </a:solidFill>
                <a:latin typeface="Aptos"/>
              </a:defRPr>
            </a:pPr>
            <a:r>
              <a:t>SPESIALISTHELSETENESTA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112264"/>
            <a:ext cx="91440" cy="941832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17320" y="23317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kontakt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3054096"/>
            <a:ext cx="182880" cy="0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74519" y="285292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samarbeid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3054096"/>
            <a:ext cx="182880" cy="1554480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63040" y="3822191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oppfølging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703320" y="2185416"/>
            <a:ext cx="850392" cy="740664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0" y="21488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akutt hjelp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03320" y="2926080"/>
            <a:ext cx="2194560" cy="265176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60520" y="27889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samlokalisert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703320" y="2185416"/>
            <a:ext cx="3931920" cy="740664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0" y="20391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tilvising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35240" y="2185416"/>
            <a:ext cx="1600200" cy="0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92440" y="193852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tilvising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2185416"/>
            <a:ext cx="1417320" cy="1609344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43800" y="2971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innlegging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052560" y="2185416"/>
            <a:ext cx="182880" cy="1609344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89720" y="299923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meir spesialisert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12080" y="2542032"/>
            <a:ext cx="3063240" cy="1252728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35040" y="29718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akutt transport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703320" y="4434840"/>
            <a:ext cx="5349240" cy="173736"/>
          </a:xfrm>
          <a:prstGeom prst="line">
            <a:avLst/>
          </a:prstGeom>
          <a:ln w="19050">
            <a:solidFill>
              <a:srgbClr val="4A5C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0" y="444398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tilbake til kommunen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3703320" y="3383280"/>
            <a:ext cx="0" cy="1225296"/>
          </a:xfrm>
          <a:prstGeom prst="line">
            <a:avLst/>
          </a:prstGeom>
          <a:ln w="19050">
            <a:solidFill>
              <a:srgbClr val="4A5C6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46120" y="36576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vidare oppfølging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9829800" y="4434840"/>
            <a:ext cx="1005840" cy="548640"/>
          </a:xfrm>
          <a:prstGeom prst="line">
            <a:avLst/>
          </a:prstGeom>
          <a:ln w="19050">
            <a:solidFill>
              <a:srgbClr val="4A5C6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104120" y="45720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A5C65"/>
                </a:solidFill>
                <a:latin typeface="Aptos"/>
              </a:defRPr>
            </a:pPr>
            <a:r>
              <a:t>styrer/eiger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1828800"/>
            <a:ext cx="30175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263238"/>
                </a:solidFill>
                <a:latin typeface="Aptos"/>
              </a:defRPr>
            </a:pPr>
            <a:r>
              <a:t>Pasient / innbyggjar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2743200"/>
            <a:ext cx="141732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263238"/>
                </a:solidFill>
                <a:latin typeface="Aptos"/>
              </a:defRPr>
            </a:pPr>
            <a:r>
              <a:t>Fastlege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2651760"/>
            <a:ext cx="1417320" cy="8046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263238"/>
                </a:solidFill>
                <a:latin typeface="Aptos"/>
              </a:defRPr>
            </a:pPr>
            <a:r>
              <a:t>Kommunale helse- og</a:t>
            </a:r>
            <a:br/>
            <a:r>
              <a:t>omsorgstenester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4251960"/>
            <a:ext cx="141732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263238"/>
                </a:solidFill>
                <a:latin typeface="Aptos"/>
              </a:defRPr>
            </a:pPr>
            <a:r>
              <a:t>Rehabilitering</a:t>
            </a:r>
            <a:br/>
            <a:r>
              <a:t>og opptrening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53712" y="1828800"/>
            <a:ext cx="1325880" cy="713232"/>
          </a:xfrm>
          <a:prstGeom prst="roundRect">
            <a:avLst/>
          </a:prstGeom>
          <a:solidFill>
            <a:srgbClr val="FCE5D5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263238"/>
                </a:solidFill>
                <a:latin typeface="Aptos"/>
              </a:defRPr>
            </a:pPr>
            <a:r>
              <a:t>Legevakt</a:t>
            </a:r>
            <a:br/>
            <a:r>
              <a:t>113 / 116 117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53712" y="3840480"/>
            <a:ext cx="1325880" cy="621792"/>
          </a:xfrm>
          <a:prstGeom prst="roundRect">
            <a:avLst/>
          </a:prstGeom>
          <a:solidFill>
            <a:srgbClr val="FCE5D5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263238"/>
                </a:solidFill>
                <a:latin typeface="Aptos"/>
              </a:defRPr>
            </a:pPr>
            <a:r>
              <a:t>Ambulansetenesta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97880" y="2788920"/>
            <a:ext cx="1051560" cy="804672"/>
          </a:xfrm>
          <a:prstGeom prst="roundRect">
            <a:avLst/>
          </a:prstGeom>
          <a:solidFill>
            <a:srgbClr val="FCE5D5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263238"/>
                </a:solidFill>
                <a:latin typeface="Aptos"/>
              </a:defRPr>
            </a:pPr>
            <a:r>
              <a:t>Distriktsmedisinsk</a:t>
            </a:r>
            <a:br/>
            <a:r>
              <a:t>senter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35240" y="1828800"/>
            <a:ext cx="137160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263238"/>
                </a:solidFill>
                <a:latin typeface="Aptos"/>
              </a:defRPr>
            </a:pPr>
            <a:r>
              <a:t>Spesialist /</a:t>
            </a:r>
            <a:br/>
            <a:r>
              <a:t>poliklinikk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1828800"/>
            <a:ext cx="164592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263238"/>
                </a:solidFill>
                <a:latin typeface="Aptos"/>
              </a:defRPr>
            </a:pPr>
            <a:r>
              <a:t>Distriktspsykiatrisk</a:t>
            </a:r>
            <a:br/>
            <a:r>
              <a:t>senter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75320" y="3794760"/>
            <a:ext cx="155448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263238"/>
                </a:solidFill>
                <a:latin typeface="Aptos"/>
              </a:defRPr>
            </a:pPr>
            <a:r>
              <a:t>Sjukehus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4983480"/>
            <a:ext cx="1554480" cy="731520"/>
          </a:xfrm>
          <a:prstGeom prst="roundRect">
            <a:avLst/>
          </a:prstGeom>
          <a:solidFill>
            <a:srgbClr val="ECF0F2"/>
          </a:solidFill>
          <a:ln w="15875">
            <a:solidFill>
              <a:srgbClr val="13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263238"/>
                </a:solidFill>
                <a:latin typeface="Aptos"/>
              </a:defRPr>
            </a:pPr>
            <a:r>
              <a:t>Regionale helseføretak</a:t>
            </a:r>
            <a:br/>
            <a:r>
              <a:t>(eigar og ansvar)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7A"/>
                </a:solidFill>
                <a:latin typeface="Aptos"/>
              </a:defRPr>
            </a:pPr>
            <a:r>
              <a:t>Kjelde: Helse- og omsorgsdepartementet, «Grunnstrukturen i helsetenesta», sist oppdatert 07.05.2025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