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256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3157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dirty="0" err="1"/>
              <a:t>Gjentakende</a:t>
            </a:r>
            <a:r>
              <a:rPr dirty="0"/>
              <a:t> </a:t>
            </a:r>
            <a:r>
              <a:rPr dirty="0" err="1"/>
              <a:t>barrierer</a:t>
            </a:r>
            <a:r>
              <a:rPr dirty="0"/>
              <a:t> </a:t>
            </a:r>
            <a:r>
              <a:rPr dirty="0" err="1"/>
              <a:t>i</a:t>
            </a:r>
            <a:r>
              <a:rPr lang="nb-NO" dirty="0"/>
              <a:t> innspill til Helsereformutvalget</a:t>
            </a:r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2421843" y="1778897"/>
            <a:ext cx="2377440" cy="2377440"/>
          </a:xfrm>
          <a:prstGeom prst="ellipse">
            <a:avLst/>
          </a:prstGeom>
          <a:solidFill>
            <a:srgbClr val="DC143C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 err="1"/>
              <a:t>Fragmenterte</a:t>
            </a:r>
            <a:r>
              <a:rPr sz="1400" dirty="0"/>
              <a:t> </a:t>
            </a:r>
            <a:r>
              <a:rPr sz="1400" dirty="0" err="1"/>
              <a:t>pasientforløp</a:t>
            </a:r>
            <a:r>
              <a:rPr sz="1400" dirty="0"/>
              <a:t>, </a:t>
            </a:r>
            <a:r>
              <a:rPr sz="1400" dirty="0" err="1"/>
              <a:t>svak</a:t>
            </a:r>
            <a:r>
              <a:rPr sz="1400" dirty="0"/>
              <a:t> </a:t>
            </a:r>
            <a:r>
              <a:rPr sz="1400" dirty="0" err="1"/>
              <a:t>samhandling</a:t>
            </a:r>
            <a:r>
              <a:rPr sz="1400" dirty="0"/>
              <a:t> </a:t>
            </a:r>
            <a:r>
              <a:rPr sz="1400" dirty="0" err="1"/>
              <a:t>og</a:t>
            </a:r>
            <a:r>
              <a:rPr sz="1400" dirty="0"/>
              <a:t> </a:t>
            </a:r>
            <a:r>
              <a:rPr sz="1400" dirty="0" err="1"/>
              <a:t>uklare</a:t>
            </a:r>
            <a:r>
              <a:rPr sz="1400" dirty="0"/>
              <a:t> </a:t>
            </a:r>
            <a:r>
              <a:rPr sz="1400" dirty="0" err="1"/>
              <a:t>ansvarslinjer</a:t>
            </a:r>
            <a:endParaRPr sz="1400" dirty="0"/>
          </a:p>
        </p:txBody>
      </p:sp>
      <p:sp>
        <p:nvSpPr>
          <p:cNvPr id="4" name="Oval 3"/>
          <p:cNvSpPr/>
          <p:nvPr/>
        </p:nvSpPr>
        <p:spPr>
          <a:xfrm>
            <a:off x="4191756" y="3455632"/>
            <a:ext cx="2308098" cy="2308098"/>
          </a:xfrm>
          <a:prstGeom prst="ellipse">
            <a:avLst/>
          </a:prstGeom>
          <a:solidFill>
            <a:srgbClr val="DC143C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 err="1"/>
              <a:t>Personellmangel</a:t>
            </a:r>
            <a:r>
              <a:rPr sz="1400" dirty="0"/>
              <a:t>, </a:t>
            </a:r>
            <a:r>
              <a:rPr sz="1400" dirty="0" err="1"/>
              <a:t>kapasitetskrise</a:t>
            </a:r>
            <a:r>
              <a:rPr sz="1400" dirty="0"/>
              <a:t> </a:t>
            </a:r>
            <a:r>
              <a:rPr sz="1400" dirty="0" err="1"/>
              <a:t>og</a:t>
            </a:r>
            <a:r>
              <a:rPr sz="1400" dirty="0"/>
              <a:t> </a:t>
            </a:r>
            <a:r>
              <a:rPr sz="1400" dirty="0" err="1"/>
              <a:t>kompetansegap</a:t>
            </a:r>
            <a:endParaRPr sz="1400" dirty="0"/>
          </a:p>
        </p:txBody>
      </p:sp>
      <p:sp>
        <p:nvSpPr>
          <p:cNvPr id="5" name="Oval 4"/>
          <p:cNvSpPr/>
          <p:nvPr/>
        </p:nvSpPr>
        <p:spPr>
          <a:xfrm>
            <a:off x="4487503" y="1576388"/>
            <a:ext cx="1944052" cy="1944052"/>
          </a:xfrm>
          <a:prstGeom prst="ellipse">
            <a:avLst/>
          </a:prstGeom>
          <a:solidFill>
            <a:srgbClr val="FF45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Digital </a:t>
            </a:r>
            <a:r>
              <a:rPr sz="1400" dirty="0" err="1"/>
              <a:t>fragmentering</a:t>
            </a:r>
            <a:r>
              <a:rPr sz="1400" dirty="0"/>
              <a:t> </a:t>
            </a:r>
            <a:r>
              <a:rPr sz="1400" dirty="0" err="1"/>
              <a:t>og</a:t>
            </a:r>
            <a:r>
              <a:rPr sz="1400" dirty="0"/>
              <a:t> </a:t>
            </a:r>
            <a:r>
              <a:rPr sz="1400" dirty="0" err="1"/>
              <a:t>manglende</a:t>
            </a:r>
            <a:r>
              <a:rPr sz="1400" dirty="0"/>
              <a:t> </a:t>
            </a:r>
            <a:r>
              <a:rPr sz="1400" dirty="0" err="1"/>
              <a:t>interoperabilitet</a:t>
            </a:r>
            <a:endParaRPr sz="1400" dirty="0"/>
          </a:p>
        </p:txBody>
      </p:sp>
      <p:sp>
        <p:nvSpPr>
          <p:cNvPr id="6" name="Oval 5"/>
          <p:cNvSpPr/>
          <p:nvPr/>
        </p:nvSpPr>
        <p:spPr>
          <a:xfrm>
            <a:off x="2548155" y="3992643"/>
            <a:ext cx="1770697" cy="1770697"/>
          </a:xfrm>
          <a:prstGeom prst="ellipse">
            <a:avLst/>
          </a:prstGeom>
          <a:solidFill>
            <a:srgbClr val="FF45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 err="1"/>
              <a:t>Finansieringsmodeller</a:t>
            </a:r>
            <a:r>
              <a:rPr sz="1400" dirty="0"/>
              <a:t> </a:t>
            </a:r>
            <a:r>
              <a:rPr sz="1400" dirty="0" err="1"/>
              <a:t>som</a:t>
            </a:r>
            <a:r>
              <a:rPr sz="1400" dirty="0"/>
              <a:t> </a:t>
            </a:r>
            <a:r>
              <a:rPr sz="1400" dirty="0" err="1"/>
              <a:t>gir</a:t>
            </a:r>
            <a:r>
              <a:rPr sz="1400" dirty="0"/>
              <a:t> </a:t>
            </a:r>
            <a:r>
              <a:rPr sz="1400" dirty="0" err="1"/>
              <a:t>feil</a:t>
            </a:r>
            <a:r>
              <a:rPr sz="1400" dirty="0"/>
              <a:t> </a:t>
            </a:r>
            <a:r>
              <a:rPr sz="1400" dirty="0" err="1"/>
              <a:t>insentiver</a:t>
            </a:r>
            <a:r>
              <a:rPr sz="1400" dirty="0"/>
              <a:t> (</a:t>
            </a:r>
            <a:r>
              <a:rPr sz="1400" dirty="0" err="1"/>
              <a:t>siloøkonomi</a:t>
            </a:r>
            <a:r>
              <a:rPr sz="1400" dirty="0"/>
              <a:t>)</a:t>
            </a:r>
          </a:p>
        </p:txBody>
      </p:sp>
      <p:sp>
        <p:nvSpPr>
          <p:cNvPr id="7" name="Oval 6"/>
          <p:cNvSpPr/>
          <p:nvPr/>
        </p:nvSpPr>
        <p:spPr>
          <a:xfrm>
            <a:off x="1205027" y="3473424"/>
            <a:ext cx="1632013" cy="1632013"/>
          </a:xfrm>
          <a:prstGeom prst="ellipse">
            <a:avLst/>
          </a:prstGeom>
          <a:solidFill>
            <a:srgbClr val="FF8C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 err="1">
                <a:solidFill>
                  <a:schemeClr val="tx1"/>
                </a:solidFill>
              </a:rPr>
              <a:t>Forebygging</a:t>
            </a:r>
            <a:r>
              <a:rPr sz="1200" dirty="0">
                <a:solidFill>
                  <a:schemeClr val="tx1"/>
                </a:solidFill>
              </a:rPr>
              <a:t>, </a:t>
            </a:r>
            <a:r>
              <a:rPr sz="1200" dirty="0" err="1">
                <a:solidFill>
                  <a:schemeClr val="tx1"/>
                </a:solidFill>
              </a:rPr>
              <a:t>tidlig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innsats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og</a:t>
            </a:r>
            <a:r>
              <a:rPr lang="nb-NO" sz="1200" dirty="0">
                <a:solidFill>
                  <a:schemeClr val="tx1"/>
                </a:solidFill>
              </a:rPr>
              <a:t> mestring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underprioriteres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664683" y="5455961"/>
            <a:ext cx="1181290" cy="1181290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/>
                </a:solidFill>
              </a:rPr>
              <a:t>Psykisk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helse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og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rus</a:t>
            </a:r>
            <a:r>
              <a:rPr dirty="0">
                <a:solidFill>
                  <a:schemeClr val="tx1"/>
                </a:solidFill>
              </a:rPr>
              <a:t> er </a:t>
            </a:r>
            <a:r>
              <a:rPr dirty="0" err="1">
                <a:solidFill>
                  <a:schemeClr val="tx1"/>
                </a:solidFill>
              </a:rPr>
              <a:t>systematisk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underprioritert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037980" y="5473296"/>
            <a:ext cx="1146619" cy="1146619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900" dirty="0" err="1">
                <a:solidFill>
                  <a:schemeClr val="tx1"/>
                </a:solidFill>
              </a:rPr>
              <a:t>Underutnyttelse</a:t>
            </a:r>
            <a:r>
              <a:rPr sz="900" dirty="0">
                <a:solidFill>
                  <a:schemeClr val="tx1"/>
                </a:solidFill>
              </a:rPr>
              <a:t> av </a:t>
            </a:r>
            <a:r>
              <a:rPr sz="900" dirty="0" err="1">
                <a:solidFill>
                  <a:schemeClr val="tx1"/>
                </a:solidFill>
              </a:rPr>
              <a:t>helsepersonells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kompetanse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og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fastlåst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oppgavedeling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733949" y="819847"/>
            <a:ext cx="1129284" cy="1129284"/>
          </a:xfrm>
          <a:prstGeom prst="ellipse">
            <a:avLst/>
          </a:prstGeom>
          <a:solidFill>
            <a:srgbClr val="FFA5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>
                <a:solidFill>
                  <a:schemeClr val="tx1"/>
                </a:solidFill>
              </a:rPr>
              <a:t>Geografisk og sosial ulikhet – «the missing middle» og distriktssvikt</a:t>
            </a:r>
          </a:p>
        </p:txBody>
      </p:sp>
      <p:sp>
        <p:nvSpPr>
          <p:cNvPr id="11" name="Oval 10"/>
          <p:cNvSpPr/>
          <p:nvPr/>
        </p:nvSpPr>
        <p:spPr>
          <a:xfrm>
            <a:off x="5949803" y="2777859"/>
            <a:ext cx="973264" cy="973264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Pilot til drift: </a:t>
            </a:r>
            <a:r>
              <a:rPr dirty="0" err="1">
                <a:solidFill>
                  <a:schemeClr val="tx1"/>
                </a:solidFill>
              </a:rPr>
              <a:t>innovasjoner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skaleres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ikke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979212" y="5203714"/>
            <a:ext cx="955929" cy="955929"/>
          </a:xfrm>
          <a:prstGeom prst="ellipse">
            <a:avLst/>
          </a:prstGeom>
          <a:solidFill>
            <a:srgbClr val="FFA5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900" dirty="0" err="1">
                <a:solidFill>
                  <a:schemeClr val="tx1"/>
                </a:solidFill>
              </a:rPr>
              <a:t>Rehabilitering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og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habilitering</a:t>
            </a:r>
            <a:r>
              <a:rPr sz="900" dirty="0">
                <a:solidFill>
                  <a:schemeClr val="tx1"/>
                </a:solidFill>
              </a:rPr>
              <a:t> er </a:t>
            </a:r>
            <a:r>
              <a:rPr sz="900" dirty="0" err="1">
                <a:solidFill>
                  <a:schemeClr val="tx1"/>
                </a:solidFill>
              </a:rPr>
              <a:t>svekket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og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fragmentert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039225" y="1288183"/>
            <a:ext cx="921258" cy="921258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900" dirty="0" err="1">
                <a:solidFill>
                  <a:schemeClr val="tx1"/>
                </a:solidFill>
              </a:rPr>
              <a:t>Trege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og</a:t>
            </a:r>
            <a:r>
              <a:rPr sz="900" dirty="0">
                <a:solidFill>
                  <a:schemeClr val="tx1"/>
                </a:solidFill>
              </a:rPr>
              <a:t> lite </a:t>
            </a:r>
            <a:r>
              <a:rPr sz="900" dirty="0" err="1">
                <a:solidFill>
                  <a:schemeClr val="tx1"/>
                </a:solidFill>
              </a:rPr>
              <a:t>innovasjonsvennlige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anskaffelser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og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metodevurderinger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2706641" y="1018884"/>
            <a:ext cx="903922" cy="903922"/>
          </a:xfrm>
          <a:prstGeom prst="ellipse">
            <a:avLst/>
          </a:prstGeom>
          <a:solidFill>
            <a:srgbClr val="FFD7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900" dirty="0" err="1">
                <a:solidFill>
                  <a:schemeClr val="tx1"/>
                </a:solidFill>
              </a:rPr>
              <a:t>Svekket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primærhelsetjeneste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og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ubalansert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oppgaveoverføring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59529" y="942710"/>
            <a:ext cx="765238" cy="765238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800" dirty="0">
                <a:solidFill>
                  <a:schemeClr val="tx1"/>
                </a:solidFill>
              </a:rPr>
              <a:t>Svak </a:t>
            </a:r>
            <a:r>
              <a:rPr sz="800" dirty="0" err="1">
                <a:solidFill>
                  <a:schemeClr val="tx1"/>
                </a:solidFill>
              </a:rPr>
              <a:t>forsknings</a:t>
            </a:r>
            <a:r>
              <a:rPr sz="800" dirty="0">
                <a:solidFill>
                  <a:schemeClr val="tx1"/>
                </a:solidFill>
              </a:rPr>
              <a:t>- </a:t>
            </a:r>
            <a:r>
              <a:rPr sz="800" dirty="0" err="1">
                <a:solidFill>
                  <a:schemeClr val="tx1"/>
                </a:solidFill>
              </a:rPr>
              <a:t>og</a:t>
            </a:r>
            <a:r>
              <a:rPr sz="800" dirty="0">
                <a:solidFill>
                  <a:schemeClr val="tx1"/>
                </a:solidFill>
              </a:rPr>
              <a:t> </a:t>
            </a:r>
            <a:r>
              <a:rPr sz="800" dirty="0" err="1">
                <a:solidFill>
                  <a:schemeClr val="tx1"/>
                </a:solidFill>
              </a:rPr>
              <a:t>innovasjonskapasitet</a:t>
            </a:r>
            <a:r>
              <a:rPr sz="800" dirty="0">
                <a:solidFill>
                  <a:schemeClr val="tx1"/>
                </a:solidFill>
              </a:rPr>
              <a:t> </a:t>
            </a:r>
            <a:r>
              <a:rPr sz="800" dirty="0" err="1">
                <a:solidFill>
                  <a:schemeClr val="tx1"/>
                </a:solidFill>
              </a:rPr>
              <a:t>i</a:t>
            </a:r>
            <a:r>
              <a:rPr sz="800" dirty="0">
                <a:solidFill>
                  <a:schemeClr val="tx1"/>
                </a:solidFill>
              </a:rPr>
              <a:t> </a:t>
            </a:r>
            <a:r>
              <a:rPr sz="800" dirty="0" err="1">
                <a:solidFill>
                  <a:schemeClr val="tx1"/>
                </a:solidFill>
              </a:rPr>
              <a:t>kommunene</a:t>
            </a:r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69196" y="3749256"/>
            <a:ext cx="730567" cy="730567"/>
          </a:xfrm>
          <a:prstGeom prst="ellipse">
            <a:avLst/>
          </a:prstGeom>
          <a:solidFill>
            <a:srgbClr val="FFD7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900" dirty="0" err="1">
                <a:solidFill>
                  <a:schemeClr val="tx1"/>
                </a:solidFill>
              </a:rPr>
              <a:t>Tannhelse</a:t>
            </a:r>
            <a:r>
              <a:rPr sz="900" dirty="0">
                <a:solidFill>
                  <a:schemeClr val="tx1"/>
                </a:solidFill>
              </a:rPr>
              <a:t> er </a:t>
            </a:r>
            <a:r>
              <a:rPr sz="900" dirty="0" err="1">
                <a:solidFill>
                  <a:schemeClr val="tx1"/>
                </a:solidFill>
              </a:rPr>
              <a:t>ikke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integrert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i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øvrig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helsetjeneste</a:t>
            </a:r>
            <a:endParaRPr sz="90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224767" y="5306406"/>
            <a:ext cx="713232" cy="713232"/>
          </a:xfrm>
          <a:prstGeom prst="ellipse">
            <a:avLst/>
          </a:prstGeom>
          <a:solidFill>
            <a:srgbClr val="FFD7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900" dirty="0" err="1">
                <a:solidFill>
                  <a:schemeClr val="tx1"/>
                </a:solidFill>
              </a:rPr>
              <a:t>Ideelle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aktørers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rammevilkår</a:t>
            </a:r>
            <a:r>
              <a:rPr sz="900" dirty="0">
                <a:solidFill>
                  <a:schemeClr val="tx1"/>
                </a:solidFill>
              </a:rPr>
              <a:t> </a:t>
            </a:r>
            <a:r>
              <a:rPr sz="900" dirty="0" err="1">
                <a:solidFill>
                  <a:schemeClr val="tx1"/>
                </a:solidFill>
              </a:rPr>
              <a:t>svekkes</a:t>
            </a:r>
            <a:endParaRPr sz="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108</Words>
  <Application>Microsoft Office PowerPoint</Application>
  <PresentationFormat>Skjermfremvisning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Thomas Tveit Rosenlund</cp:lastModifiedBy>
  <cp:revision>2</cp:revision>
  <dcterms:created xsi:type="dcterms:W3CDTF">2013-01-27T09:14:16Z</dcterms:created>
  <dcterms:modified xsi:type="dcterms:W3CDTF">2026-08-17T06:36:04Z</dcterms:modified>
  <cp:category/>
</cp:coreProperties>
</file>