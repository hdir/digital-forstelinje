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Gjentakende barrierer i Helsereformen</a:t>
            </a:r>
          </a:p>
        </p:txBody>
      </p:sp>
      <p:sp>
        <p:nvSpPr>
          <p:cNvPr id="3" name="Oval 2"/>
          <p:cNvSpPr/>
          <p:nvPr/>
        </p:nvSpPr>
        <p:spPr>
          <a:xfrm>
            <a:off x="259375" y="9147"/>
            <a:ext cx="2377440" cy="2377440"/>
          </a:xfrm>
          <a:prstGeom prst="ellipse">
            <a:avLst/>
          </a:prstGeom>
          <a:solidFill>
            <a:srgbClr val="DC143C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Fragmenterte pasientforløp, svak samhandling og uklare ansvarslinjer</a:t>
            </a:r>
          </a:p>
        </p:txBody>
      </p:sp>
      <p:sp>
        <p:nvSpPr>
          <p:cNvPr id="4" name="Oval 3"/>
          <p:cNvSpPr/>
          <p:nvPr/>
        </p:nvSpPr>
        <p:spPr>
          <a:xfrm>
            <a:off x="1922923" y="116312"/>
            <a:ext cx="2308098" cy="2308098"/>
          </a:xfrm>
          <a:prstGeom prst="ellipse">
            <a:avLst/>
          </a:prstGeom>
          <a:solidFill>
            <a:srgbClr val="DC143C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Personellmangel, kapasitetskrise og kompetansegap</a:t>
            </a:r>
          </a:p>
        </p:txBody>
      </p:sp>
      <p:sp>
        <p:nvSpPr>
          <p:cNvPr id="5" name="Oval 4"/>
          <p:cNvSpPr/>
          <p:nvPr/>
        </p:nvSpPr>
        <p:spPr>
          <a:xfrm>
            <a:off x="4186911" y="464203"/>
            <a:ext cx="1944052" cy="1944052"/>
          </a:xfrm>
          <a:prstGeom prst="ellipse">
            <a:avLst/>
          </a:prstGeom>
          <a:solidFill>
            <a:srgbClr val="FF4500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Digital fragmentering og manglende interoperabilitet</a:t>
            </a:r>
          </a:p>
        </p:txBody>
      </p:sp>
      <p:sp>
        <p:nvSpPr>
          <p:cNvPr id="6" name="Oval 5"/>
          <p:cNvSpPr/>
          <p:nvPr/>
        </p:nvSpPr>
        <p:spPr>
          <a:xfrm>
            <a:off x="6187816" y="335169"/>
            <a:ext cx="1770697" cy="1770697"/>
          </a:xfrm>
          <a:prstGeom prst="ellipse">
            <a:avLst/>
          </a:prstGeom>
          <a:solidFill>
            <a:srgbClr val="FF4500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Finansieringsmodeller som gir feil insentiver (siloøkonomi)</a:t>
            </a:r>
          </a:p>
        </p:txBody>
      </p:sp>
      <p:sp>
        <p:nvSpPr>
          <p:cNvPr id="7" name="Oval 6"/>
          <p:cNvSpPr/>
          <p:nvPr/>
        </p:nvSpPr>
        <p:spPr>
          <a:xfrm>
            <a:off x="512756" y="1572331"/>
            <a:ext cx="1632013" cy="1632013"/>
          </a:xfrm>
          <a:prstGeom prst="ellipse">
            <a:avLst/>
          </a:prstGeom>
          <a:solidFill>
            <a:srgbClr val="FF8C00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Forebygging, tidlig innsats og mestring underprioriteres</a:t>
            </a:r>
          </a:p>
        </p:txBody>
      </p:sp>
      <p:sp>
        <p:nvSpPr>
          <p:cNvPr id="8" name="Oval 7"/>
          <p:cNvSpPr/>
          <p:nvPr/>
        </p:nvSpPr>
        <p:spPr>
          <a:xfrm>
            <a:off x="2455388" y="1971633"/>
            <a:ext cx="1181290" cy="1181290"/>
          </a:xfrm>
          <a:prstGeom prst="ellipse">
            <a:avLst/>
          </a:prstGeom>
          <a:solidFill>
            <a:srgbClr val="FFC800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Psykisk helse og rus er systematisk underprioritert</a:t>
            </a:r>
          </a:p>
        </p:txBody>
      </p:sp>
      <p:sp>
        <p:nvSpPr>
          <p:cNvPr id="9" name="Oval 8"/>
          <p:cNvSpPr/>
          <p:nvPr/>
        </p:nvSpPr>
        <p:spPr>
          <a:xfrm>
            <a:off x="4196128" y="1876857"/>
            <a:ext cx="1146619" cy="1146619"/>
          </a:xfrm>
          <a:prstGeom prst="ellipse">
            <a:avLst/>
          </a:prstGeom>
          <a:solidFill>
            <a:srgbClr val="FFC800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Underutnyttelse av helsepersonells kompetanse og fastlåst oppgavedeling</a:t>
            </a:r>
          </a:p>
        </p:txBody>
      </p:sp>
      <p:sp>
        <p:nvSpPr>
          <p:cNvPr id="10" name="Oval 9"/>
          <p:cNvSpPr/>
          <p:nvPr/>
        </p:nvSpPr>
        <p:spPr>
          <a:xfrm>
            <a:off x="6375590" y="2012115"/>
            <a:ext cx="1129284" cy="1129284"/>
          </a:xfrm>
          <a:prstGeom prst="ellipse">
            <a:avLst/>
          </a:prstGeom>
          <a:solidFill>
            <a:srgbClr val="FFA500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Geografisk og sosial ulikhet – «the missing middle» og distriktssvikt</a:t>
            </a:r>
          </a:p>
        </p:txBody>
      </p:sp>
      <p:sp>
        <p:nvSpPr>
          <p:cNvPr id="11" name="Oval 10"/>
          <p:cNvSpPr/>
          <p:nvPr/>
        </p:nvSpPr>
        <p:spPr>
          <a:xfrm>
            <a:off x="731590" y="3295057"/>
            <a:ext cx="973264" cy="973264"/>
          </a:xfrm>
          <a:prstGeom prst="ellipse">
            <a:avLst/>
          </a:prstGeom>
          <a:solidFill>
            <a:srgbClr val="FFC800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Pilot til drift: innovasjoner skaleres ikke</a:t>
            </a:r>
          </a:p>
        </p:txBody>
      </p:sp>
      <p:sp>
        <p:nvSpPr>
          <p:cNvPr id="12" name="Oval 11"/>
          <p:cNvSpPr/>
          <p:nvPr/>
        </p:nvSpPr>
        <p:spPr>
          <a:xfrm>
            <a:off x="2892201" y="3090572"/>
            <a:ext cx="955929" cy="955929"/>
          </a:xfrm>
          <a:prstGeom prst="ellipse">
            <a:avLst/>
          </a:prstGeom>
          <a:solidFill>
            <a:srgbClr val="FFA500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Rehabilitering og habilitering er svekket og fragmentert</a:t>
            </a:r>
          </a:p>
        </p:txBody>
      </p:sp>
      <p:sp>
        <p:nvSpPr>
          <p:cNvPr id="13" name="Oval 12"/>
          <p:cNvSpPr/>
          <p:nvPr/>
        </p:nvSpPr>
        <p:spPr>
          <a:xfrm>
            <a:off x="4736355" y="3360882"/>
            <a:ext cx="921258" cy="921258"/>
          </a:xfrm>
          <a:prstGeom prst="ellipse">
            <a:avLst/>
          </a:prstGeom>
          <a:solidFill>
            <a:srgbClr val="FFC800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Trege og lite innovasjonsvennlige anskaffelser og metodevurderinger</a:t>
            </a:r>
          </a:p>
        </p:txBody>
      </p:sp>
      <p:sp>
        <p:nvSpPr>
          <p:cNvPr id="14" name="Oval 13"/>
          <p:cNvSpPr/>
          <p:nvPr/>
        </p:nvSpPr>
        <p:spPr>
          <a:xfrm>
            <a:off x="6318393" y="3171066"/>
            <a:ext cx="903922" cy="903922"/>
          </a:xfrm>
          <a:prstGeom prst="ellipse">
            <a:avLst/>
          </a:prstGeom>
          <a:solidFill>
            <a:srgbClr val="FFD700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Svekket primærhelsetjeneste og ubalansert oppgaveoverføring</a:t>
            </a:r>
          </a:p>
        </p:txBody>
      </p:sp>
      <p:sp>
        <p:nvSpPr>
          <p:cNvPr id="15" name="Oval 14"/>
          <p:cNvSpPr/>
          <p:nvPr/>
        </p:nvSpPr>
        <p:spPr>
          <a:xfrm>
            <a:off x="1239826" y="4495373"/>
            <a:ext cx="765238" cy="765238"/>
          </a:xfrm>
          <a:prstGeom prst="ellipse">
            <a:avLst/>
          </a:prstGeom>
          <a:solidFill>
            <a:srgbClr val="FFC800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Svak forsknings- og innovasjonskapasitet i kommunene</a:t>
            </a:r>
          </a:p>
        </p:txBody>
      </p:sp>
      <p:sp>
        <p:nvSpPr>
          <p:cNvPr id="16" name="Oval 15"/>
          <p:cNvSpPr/>
          <p:nvPr/>
        </p:nvSpPr>
        <p:spPr>
          <a:xfrm>
            <a:off x="2611680" y="4424971"/>
            <a:ext cx="730567" cy="730567"/>
          </a:xfrm>
          <a:prstGeom prst="ellipse">
            <a:avLst/>
          </a:prstGeom>
          <a:solidFill>
            <a:srgbClr val="FFD700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Tannhelse er ikke integrert i øvrig helsetjeneste</a:t>
            </a:r>
          </a:p>
        </p:txBody>
      </p:sp>
      <p:sp>
        <p:nvSpPr>
          <p:cNvPr id="17" name="Oval 16"/>
          <p:cNvSpPr/>
          <p:nvPr/>
        </p:nvSpPr>
        <p:spPr>
          <a:xfrm>
            <a:off x="4863233" y="4619082"/>
            <a:ext cx="713232" cy="713232"/>
          </a:xfrm>
          <a:prstGeom prst="ellipse">
            <a:avLst/>
          </a:prstGeom>
          <a:solidFill>
            <a:srgbClr val="FFD700"/>
          </a:solidFill>
          <a:ln w="1905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Ideelle aktørers rammevilkår svekkes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6464"/>
                </a:solidFill>
              </a:defRPr>
            </a:pPr>
            <a:r>
              <a:t>Farger indikerer antall interessentgrupper som omtaler barrieren (fra rødt=7 grupper til gult=2 grupper). Størrelse indikerer antall aktører.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